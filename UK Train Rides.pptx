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3" r:id="rId16"/>
    <p:sldId id="271" r:id="rId17"/>
    <p:sldId id="272" r:id="rId18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914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52" d="100"/>
          <a:sy n="52" d="100"/>
        </p:scale>
        <p:origin x="850" y="58"/>
      </p:cViewPr>
      <p:guideLst>
        <p:guide orient="horz" pos="2914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0" b="1" i="0">
                <a:solidFill>
                  <a:srgbClr val="306BA6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1" i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1" i="0">
                <a:solidFill>
                  <a:srgbClr val="306BA6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500" b="1" i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1" i="0">
                <a:solidFill>
                  <a:srgbClr val="306BA6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1" i="0">
                <a:solidFill>
                  <a:srgbClr val="306BA6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310610" y="9525"/>
            <a:ext cx="1916430" cy="16845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8468" y="322528"/>
            <a:ext cx="11859005" cy="38539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0" b="1" i="0">
                <a:solidFill>
                  <a:srgbClr val="306BA6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25500" y="3307841"/>
            <a:ext cx="11859895" cy="42881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1" i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/>
          <p:nvPr/>
        </p:nvSpPr>
        <p:spPr>
          <a:xfrm>
            <a:off x="0" y="6017895"/>
            <a:ext cx="2275840" cy="4269105"/>
          </a:xfrm>
          <a:custGeom>
            <a:avLst/>
            <a:gdLst/>
            <a:ahLst/>
            <a:cxnLst/>
            <a:rect l="l" t="t" r="r" b="b"/>
            <a:pathLst>
              <a:path w="2275840" h="4269105">
                <a:moveTo>
                  <a:pt x="2275840" y="0"/>
                </a:moveTo>
                <a:lnTo>
                  <a:pt x="0" y="0"/>
                </a:lnTo>
                <a:lnTo>
                  <a:pt x="0" y="4269105"/>
                </a:lnTo>
                <a:lnTo>
                  <a:pt x="2275840" y="4269105"/>
                </a:lnTo>
                <a:lnTo>
                  <a:pt x="2275840" y="0"/>
                </a:lnTo>
                <a:close/>
              </a:path>
            </a:pathLst>
          </a:custGeom>
          <a:solidFill>
            <a:srgbClr val="1F926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6CA6CD-F234-B89E-D28A-0282539B58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526" t="13463"/>
          <a:stretch>
            <a:fillRect/>
          </a:stretch>
        </p:blipFill>
        <p:spPr>
          <a:xfrm>
            <a:off x="0" y="-1229"/>
            <a:ext cx="1295400" cy="1295399"/>
          </a:xfrm>
          <a:prstGeom prst="rect">
            <a:avLst/>
          </a:prstGeom>
        </p:spPr>
      </p:pic>
      <p:pic>
        <p:nvPicPr>
          <p:cNvPr id="10" name="object 11">
            <a:extLst>
              <a:ext uri="{FF2B5EF4-FFF2-40B4-BE49-F238E27FC236}">
                <a16:creationId xmlns:a16="http://schemas.microsoft.com/office/drawing/2014/main" id="{DEA9BE6B-E0EE-7E90-251E-B49EA0AEBBF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872745" y="-1230"/>
            <a:ext cx="1298448" cy="12941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D560A52-9AEF-2E3C-F1FB-CBF843E26D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36" t="8322"/>
          <a:stretch>
            <a:fillRect/>
          </a:stretch>
        </p:blipFill>
        <p:spPr>
          <a:xfrm>
            <a:off x="0" y="0"/>
            <a:ext cx="1371600" cy="1379251"/>
          </a:xfrm>
          <a:prstGeom prst="rect">
            <a:avLst/>
          </a:prstGeom>
        </p:spPr>
      </p:pic>
      <p:pic>
        <p:nvPicPr>
          <p:cNvPr id="12" name="object 11">
            <a:extLst>
              <a:ext uri="{FF2B5EF4-FFF2-40B4-BE49-F238E27FC236}">
                <a16:creationId xmlns:a16="http://schemas.microsoft.com/office/drawing/2014/main" id="{C2A3BE1E-6A02-1F6D-8864-DEEAA3B6479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916400" y="0"/>
            <a:ext cx="1371600" cy="1259205"/>
          </a:xfrm>
          <a:prstGeom prst="rect">
            <a:avLst/>
          </a:prstGeom>
        </p:spPr>
      </p:pic>
      <p:sp>
        <p:nvSpPr>
          <p:cNvPr id="15" name="object 3">
            <a:extLst>
              <a:ext uri="{FF2B5EF4-FFF2-40B4-BE49-F238E27FC236}">
                <a16:creationId xmlns:a16="http://schemas.microsoft.com/office/drawing/2014/main" id="{233BADB7-F133-9087-D28E-7F353D5A8DB2}"/>
              </a:ext>
            </a:extLst>
          </p:cNvPr>
          <p:cNvSpPr txBox="1"/>
          <p:nvPr/>
        </p:nvSpPr>
        <p:spPr>
          <a:xfrm>
            <a:off x="4343400" y="3467100"/>
            <a:ext cx="10680712" cy="149079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  <a:tabLst>
                <a:tab pos="1743710" algn="l"/>
                <a:tab pos="4942205" algn="l"/>
              </a:tabLst>
            </a:pPr>
            <a:r>
              <a:rPr sz="9600" b="1" spc="-2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UK</a:t>
            </a:r>
            <a:r>
              <a:rPr sz="96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	</a:t>
            </a:r>
            <a:r>
              <a:rPr sz="9600" b="1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TRAIN</a:t>
            </a:r>
            <a:r>
              <a:rPr sz="96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	</a:t>
            </a:r>
            <a:r>
              <a:rPr sz="9600" b="1" spc="-2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RIDES</a:t>
            </a:r>
            <a:endParaRPr sz="9600" dirty="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6" name="object 4">
            <a:extLst>
              <a:ext uri="{FF2B5EF4-FFF2-40B4-BE49-F238E27FC236}">
                <a16:creationId xmlns:a16="http://schemas.microsoft.com/office/drawing/2014/main" id="{AF0333B0-6883-E4CD-48DD-2C88682A1E73}"/>
              </a:ext>
            </a:extLst>
          </p:cNvPr>
          <p:cNvSpPr txBox="1"/>
          <p:nvPr/>
        </p:nvSpPr>
        <p:spPr>
          <a:xfrm>
            <a:off x="7494593" y="5296687"/>
            <a:ext cx="4378325" cy="24409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900" spc="455" dirty="0">
                <a:solidFill>
                  <a:srgbClr val="306BA6"/>
                </a:solidFill>
                <a:latin typeface="Trebuchet MS" panose="020B0603020202020204"/>
                <a:cs typeface="Trebuchet MS" panose="020B0603020202020204"/>
              </a:rPr>
              <a:t>REPORT</a:t>
            </a:r>
            <a:endParaRPr sz="8900" dirty="0">
              <a:latin typeface="Trebuchet MS" panose="020B0603020202020204"/>
              <a:cs typeface="Trebuchet MS" panose="020B0603020202020204"/>
            </a:endParaRPr>
          </a:p>
          <a:p>
            <a:pPr marL="189230">
              <a:lnSpc>
                <a:spcPct val="100000"/>
              </a:lnSpc>
              <a:spcBef>
                <a:spcPts val="5025"/>
              </a:spcBef>
            </a:pPr>
            <a:r>
              <a:rPr sz="2750" spc="19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P</a:t>
            </a:r>
            <a:r>
              <a:rPr sz="2750" spc="4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204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R</a:t>
            </a:r>
            <a:r>
              <a:rPr sz="2750" spc="3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19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E</a:t>
            </a:r>
            <a:r>
              <a:rPr sz="2750" spc="4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17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S</a:t>
            </a:r>
            <a:r>
              <a:rPr sz="2750" spc="6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19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E</a:t>
            </a:r>
            <a:r>
              <a:rPr sz="2750" spc="4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24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N</a:t>
            </a:r>
            <a:r>
              <a:rPr sz="2750" spc="2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204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</a:t>
            </a:r>
            <a:r>
              <a:rPr sz="2750" spc="7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2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2750" spc="3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204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</a:t>
            </a:r>
            <a:r>
              <a:rPr sz="2750" spc="7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7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I</a:t>
            </a:r>
            <a:r>
              <a:rPr sz="2750" spc="3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254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O</a:t>
            </a:r>
            <a:r>
              <a:rPr sz="2750" spc="4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750" spc="19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N</a:t>
            </a:r>
            <a:endParaRPr sz="2750" dirty="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650AADF-13E5-36F7-8856-A0A6AC5F25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36" t="8322"/>
          <a:stretch>
            <a:fillRect/>
          </a:stretch>
        </p:blipFill>
        <p:spPr>
          <a:xfrm>
            <a:off x="0" y="0"/>
            <a:ext cx="1371600" cy="1379251"/>
          </a:xfrm>
          <a:prstGeom prst="rect">
            <a:avLst/>
          </a:prstGeom>
        </p:spPr>
      </p:pic>
      <p:pic>
        <p:nvPicPr>
          <p:cNvPr id="17" name="object 11">
            <a:extLst>
              <a:ext uri="{FF2B5EF4-FFF2-40B4-BE49-F238E27FC236}">
                <a16:creationId xmlns:a16="http://schemas.microsoft.com/office/drawing/2014/main" id="{87BF9892-53B0-58F2-0527-06E93B2C77B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916400" y="0"/>
            <a:ext cx="1371600" cy="1259205"/>
          </a:xfrm>
          <a:prstGeom prst="rect">
            <a:avLst/>
          </a:prstGeom>
        </p:spPr>
      </p:pic>
      <p:sp>
        <p:nvSpPr>
          <p:cNvPr id="20" name="object 4">
            <a:extLst>
              <a:ext uri="{FF2B5EF4-FFF2-40B4-BE49-F238E27FC236}">
                <a16:creationId xmlns:a16="http://schemas.microsoft.com/office/drawing/2014/main" id="{ED876927-656E-BE4F-CBDC-160A5D966F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46464" y="169669"/>
            <a:ext cx="7086600" cy="105862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800" dirty="0">
                <a:latin typeface="Tahoma" panose="020B0604030504040204"/>
                <a:cs typeface="Tahoma" panose="020B0604030504040204"/>
              </a:rPr>
              <a:t>Team </a:t>
            </a:r>
            <a:r>
              <a:rPr sz="6800" spc="-10" dirty="0">
                <a:latin typeface="Tahoma" panose="020B0604030504040204"/>
                <a:cs typeface="Tahoma" panose="020B0604030504040204"/>
              </a:rPr>
              <a:t>Members</a:t>
            </a:r>
            <a:r>
              <a:rPr lang="en-US" sz="6800" spc="-10" dirty="0">
                <a:latin typeface="Tahoma" panose="020B0604030504040204"/>
                <a:cs typeface="Tahoma" panose="020B0604030504040204"/>
              </a:rPr>
              <a:t>:</a:t>
            </a:r>
            <a:endParaRPr sz="6800" dirty="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21" name="object 5">
            <a:extLst>
              <a:ext uri="{FF2B5EF4-FFF2-40B4-BE49-F238E27FC236}">
                <a16:creationId xmlns:a16="http://schemas.microsoft.com/office/drawing/2014/main" id="{F10878D8-5951-16AA-F303-EDFBABF7C9F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734800" y="4122128"/>
            <a:ext cx="3810000" cy="3089890"/>
          </a:xfrm>
          <a:prstGeom prst="rect">
            <a:avLst/>
          </a:prstGeom>
        </p:spPr>
      </p:pic>
      <p:sp>
        <p:nvSpPr>
          <p:cNvPr id="22" name="object 2">
            <a:extLst>
              <a:ext uri="{FF2B5EF4-FFF2-40B4-BE49-F238E27FC236}">
                <a16:creationId xmlns:a16="http://schemas.microsoft.com/office/drawing/2014/main" id="{0DFC92E0-8660-FAD6-9536-C00FC6DAE56B}"/>
              </a:ext>
            </a:extLst>
          </p:cNvPr>
          <p:cNvSpPr/>
          <p:nvPr/>
        </p:nvSpPr>
        <p:spPr>
          <a:xfrm>
            <a:off x="1911033" y="3248080"/>
            <a:ext cx="7365702" cy="1058624"/>
          </a:xfrm>
          <a:custGeom>
            <a:avLst/>
            <a:gdLst/>
            <a:ahLst/>
            <a:cxnLst/>
            <a:rect l="l" t="t" r="r" b="b"/>
            <a:pathLst>
              <a:path w="5602605" h="1031875">
                <a:moveTo>
                  <a:pt x="5211699" y="0"/>
                </a:moveTo>
                <a:lnTo>
                  <a:pt x="390525" y="0"/>
                </a:lnTo>
                <a:lnTo>
                  <a:pt x="339216" y="3429"/>
                </a:lnTo>
                <a:lnTo>
                  <a:pt x="289178" y="13335"/>
                </a:lnTo>
                <a:lnTo>
                  <a:pt x="241045" y="29718"/>
                </a:lnTo>
                <a:lnTo>
                  <a:pt x="195452" y="52197"/>
                </a:lnTo>
                <a:lnTo>
                  <a:pt x="153034" y="80518"/>
                </a:lnTo>
                <a:lnTo>
                  <a:pt x="114426" y="114426"/>
                </a:lnTo>
                <a:lnTo>
                  <a:pt x="80517" y="153035"/>
                </a:lnTo>
                <a:lnTo>
                  <a:pt x="52196" y="195453"/>
                </a:lnTo>
                <a:lnTo>
                  <a:pt x="29717" y="241046"/>
                </a:lnTo>
                <a:lnTo>
                  <a:pt x="13334" y="289179"/>
                </a:lnTo>
                <a:lnTo>
                  <a:pt x="3428" y="339217"/>
                </a:lnTo>
                <a:lnTo>
                  <a:pt x="0" y="390525"/>
                </a:lnTo>
                <a:lnTo>
                  <a:pt x="0" y="641350"/>
                </a:lnTo>
                <a:lnTo>
                  <a:pt x="3428" y="692785"/>
                </a:lnTo>
                <a:lnTo>
                  <a:pt x="13334" y="742696"/>
                </a:lnTo>
                <a:lnTo>
                  <a:pt x="29717" y="790829"/>
                </a:lnTo>
                <a:lnTo>
                  <a:pt x="52196" y="836422"/>
                </a:lnTo>
                <a:lnTo>
                  <a:pt x="80517" y="878840"/>
                </a:lnTo>
                <a:lnTo>
                  <a:pt x="114426" y="917575"/>
                </a:lnTo>
                <a:lnTo>
                  <a:pt x="153034" y="951484"/>
                </a:lnTo>
                <a:lnTo>
                  <a:pt x="195452" y="979805"/>
                </a:lnTo>
                <a:lnTo>
                  <a:pt x="241045" y="1002157"/>
                </a:lnTo>
                <a:lnTo>
                  <a:pt x="289178" y="1018540"/>
                </a:lnTo>
                <a:lnTo>
                  <a:pt x="339216" y="1028573"/>
                </a:lnTo>
                <a:lnTo>
                  <a:pt x="390525" y="1031875"/>
                </a:lnTo>
                <a:lnTo>
                  <a:pt x="5211699" y="1031875"/>
                </a:lnTo>
                <a:lnTo>
                  <a:pt x="5263133" y="1028573"/>
                </a:lnTo>
                <a:lnTo>
                  <a:pt x="5313045" y="1018540"/>
                </a:lnTo>
                <a:lnTo>
                  <a:pt x="5361178" y="1002157"/>
                </a:lnTo>
                <a:lnTo>
                  <a:pt x="5406771" y="979805"/>
                </a:lnTo>
                <a:lnTo>
                  <a:pt x="5449188" y="951484"/>
                </a:lnTo>
                <a:lnTo>
                  <a:pt x="5487924" y="917575"/>
                </a:lnTo>
                <a:lnTo>
                  <a:pt x="5521833" y="878840"/>
                </a:lnTo>
                <a:lnTo>
                  <a:pt x="5550154" y="836422"/>
                </a:lnTo>
                <a:lnTo>
                  <a:pt x="5572506" y="790829"/>
                </a:lnTo>
                <a:lnTo>
                  <a:pt x="5588888" y="742696"/>
                </a:lnTo>
                <a:lnTo>
                  <a:pt x="5598922" y="692785"/>
                </a:lnTo>
                <a:lnTo>
                  <a:pt x="5602224" y="641350"/>
                </a:lnTo>
                <a:lnTo>
                  <a:pt x="5602224" y="390525"/>
                </a:lnTo>
                <a:lnTo>
                  <a:pt x="5598922" y="339217"/>
                </a:lnTo>
                <a:lnTo>
                  <a:pt x="5588888" y="289179"/>
                </a:lnTo>
                <a:lnTo>
                  <a:pt x="5572506" y="241046"/>
                </a:lnTo>
                <a:lnTo>
                  <a:pt x="5550154" y="195453"/>
                </a:lnTo>
                <a:lnTo>
                  <a:pt x="5521833" y="153035"/>
                </a:lnTo>
                <a:lnTo>
                  <a:pt x="5487924" y="114426"/>
                </a:lnTo>
                <a:lnTo>
                  <a:pt x="5449188" y="80518"/>
                </a:lnTo>
                <a:lnTo>
                  <a:pt x="5406771" y="52197"/>
                </a:lnTo>
                <a:lnTo>
                  <a:pt x="5361178" y="29718"/>
                </a:lnTo>
                <a:lnTo>
                  <a:pt x="5313045" y="13335"/>
                </a:lnTo>
                <a:lnTo>
                  <a:pt x="5263133" y="3429"/>
                </a:lnTo>
                <a:lnTo>
                  <a:pt x="5211699" y="0"/>
                </a:lnTo>
                <a:close/>
              </a:path>
            </a:pathLst>
          </a:cu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pPr algn="ctr"/>
            <a:r>
              <a:rPr lang="en-US" altLang="en-US" sz="4000" dirty="0"/>
              <a:t>Mohamed Reda Ibrahim</a:t>
            </a:r>
          </a:p>
        </p:txBody>
      </p:sp>
      <p:sp>
        <p:nvSpPr>
          <p:cNvPr id="23" name="object 2">
            <a:extLst>
              <a:ext uri="{FF2B5EF4-FFF2-40B4-BE49-F238E27FC236}">
                <a16:creationId xmlns:a16="http://schemas.microsoft.com/office/drawing/2014/main" id="{CF3EA1D0-988E-278A-6955-FF37ACCFECA3}"/>
              </a:ext>
            </a:extLst>
          </p:cNvPr>
          <p:cNvSpPr/>
          <p:nvPr/>
        </p:nvSpPr>
        <p:spPr>
          <a:xfrm>
            <a:off x="1923324" y="4700737"/>
            <a:ext cx="7365702" cy="1058624"/>
          </a:xfrm>
          <a:custGeom>
            <a:avLst/>
            <a:gdLst/>
            <a:ahLst/>
            <a:cxnLst/>
            <a:rect l="l" t="t" r="r" b="b"/>
            <a:pathLst>
              <a:path w="5602605" h="1031875">
                <a:moveTo>
                  <a:pt x="5211699" y="0"/>
                </a:moveTo>
                <a:lnTo>
                  <a:pt x="390525" y="0"/>
                </a:lnTo>
                <a:lnTo>
                  <a:pt x="339216" y="3429"/>
                </a:lnTo>
                <a:lnTo>
                  <a:pt x="289178" y="13335"/>
                </a:lnTo>
                <a:lnTo>
                  <a:pt x="241045" y="29718"/>
                </a:lnTo>
                <a:lnTo>
                  <a:pt x="195452" y="52197"/>
                </a:lnTo>
                <a:lnTo>
                  <a:pt x="153034" y="80518"/>
                </a:lnTo>
                <a:lnTo>
                  <a:pt x="114426" y="114426"/>
                </a:lnTo>
                <a:lnTo>
                  <a:pt x="80517" y="153035"/>
                </a:lnTo>
                <a:lnTo>
                  <a:pt x="52196" y="195453"/>
                </a:lnTo>
                <a:lnTo>
                  <a:pt x="29717" y="241046"/>
                </a:lnTo>
                <a:lnTo>
                  <a:pt x="13334" y="289179"/>
                </a:lnTo>
                <a:lnTo>
                  <a:pt x="3428" y="339217"/>
                </a:lnTo>
                <a:lnTo>
                  <a:pt x="0" y="390525"/>
                </a:lnTo>
                <a:lnTo>
                  <a:pt x="0" y="641350"/>
                </a:lnTo>
                <a:lnTo>
                  <a:pt x="3428" y="692785"/>
                </a:lnTo>
                <a:lnTo>
                  <a:pt x="13334" y="742696"/>
                </a:lnTo>
                <a:lnTo>
                  <a:pt x="29717" y="790829"/>
                </a:lnTo>
                <a:lnTo>
                  <a:pt x="52196" y="836422"/>
                </a:lnTo>
                <a:lnTo>
                  <a:pt x="80517" y="878840"/>
                </a:lnTo>
                <a:lnTo>
                  <a:pt x="114426" y="917575"/>
                </a:lnTo>
                <a:lnTo>
                  <a:pt x="153034" y="951484"/>
                </a:lnTo>
                <a:lnTo>
                  <a:pt x="195452" y="979805"/>
                </a:lnTo>
                <a:lnTo>
                  <a:pt x="241045" y="1002157"/>
                </a:lnTo>
                <a:lnTo>
                  <a:pt x="289178" y="1018540"/>
                </a:lnTo>
                <a:lnTo>
                  <a:pt x="339216" y="1028573"/>
                </a:lnTo>
                <a:lnTo>
                  <a:pt x="390525" y="1031875"/>
                </a:lnTo>
                <a:lnTo>
                  <a:pt x="5211699" y="1031875"/>
                </a:lnTo>
                <a:lnTo>
                  <a:pt x="5263133" y="1028573"/>
                </a:lnTo>
                <a:lnTo>
                  <a:pt x="5313045" y="1018540"/>
                </a:lnTo>
                <a:lnTo>
                  <a:pt x="5361178" y="1002157"/>
                </a:lnTo>
                <a:lnTo>
                  <a:pt x="5406771" y="979805"/>
                </a:lnTo>
                <a:lnTo>
                  <a:pt x="5449188" y="951484"/>
                </a:lnTo>
                <a:lnTo>
                  <a:pt x="5487924" y="917575"/>
                </a:lnTo>
                <a:lnTo>
                  <a:pt x="5521833" y="878840"/>
                </a:lnTo>
                <a:lnTo>
                  <a:pt x="5550154" y="836422"/>
                </a:lnTo>
                <a:lnTo>
                  <a:pt x="5572506" y="790829"/>
                </a:lnTo>
                <a:lnTo>
                  <a:pt x="5588888" y="742696"/>
                </a:lnTo>
                <a:lnTo>
                  <a:pt x="5598922" y="692785"/>
                </a:lnTo>
                <a:lnTo>
                  <a:pt x="5602224" y="641350"/>
                </a:lnTo>
                <a:lnTo>
                  <a:pt x="5602224" y="390525"/>
                </a:lnTo>
                <a:lnTo>
                  <a:pt x="5598922" y="339217"/>
                </a:lnTo>
                <a:lnTo>
                  <a:pt x="5588888" y="289179"/>
                </a:lnTo>
                <a:lnTo>
                  <a:pt x="5572506" y="241046"/>
                </a:lnTo>
                <a:lnTo>
                  <a:pt x="5550154" y="195453"/>
                </a:lnTo>
                <a:lnTo>
                  <a:pt x="5521833" y="153035"/>
                </a:lnTo>
                <a:lnTo>
                  <a:pt x="5487924" y="114426"/>
                </a:lnTo>
                <a:lnTo>
                  <a:pt x="5449188" y="80518"/>
                </a:lnTo>
                <a:lnTo>
                  <a:pt x="5406771" y="52197"/>
                </a:lnTo>
                <a:lnTo>
                  <a:pt x="5361178" y="29718"/>
                </a:lnTo>
                <a:lnTo>
                  <a:pt x="5313045" y="13335"/>
                </a:lnTo>
                <a:lnTo>
                  <a:pt x="5263133" y="3429"/>
                </a:lnTo>
                <a:lnTo>
                  <a:pt x="5211699" y="0"/>
                </a:lnTo>
                <a:close/>
              </a:path>
            </a:pathLst>
          </a:cu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pPr algn="ctr"/>
            <a:r>
              <a:rPr lang="en-US" altLang="en-US" sz="4000" dirty="0"/>
              <a:t>Hossam Mohamed Hammad</a:t>
            </a:r>
          </a:p>
        </p:txBody>
      </p:sp>
      <p:sp>
        <p:nvSpPr>
          <p:cNvPr id="24" name="object 2">
            <a:extLst>
              <a:ext uri="{FF2B5EF4-FFF2-40B4-BE49-F238E27FC236}">
                <a16:creationId xmlns:a16="http://schemas.microsoft.com/office/drawing/2014/main" id="{2A7A639A-C40A-EE2C-A474-CBF88C7886B4}"/>
              </a:ext>
            </a:extLst>
          </p:cNvPr>
          <p:cNvSpPr/>
          <p:nvPr/>
        </p:nvSpPr>
        <p:spPr>
          <a:xfrm>
            <a:off x="1930698" y="6153394"/>
            <a:ext cx="7365702" cy="1058624"/>
          </a:xfrm>
          <a:custGeom>
            <a:avLst/>
            <a:gdLst/>
            <a:ahLst/>
            <a:cxnLst/>
            <a:rect l="l" t="t" r="r" b="b"/>
            <a:pathLst>
              <a:path w="5602605" h="1031875">
                <a:moveTo>
                  <a:pt x="5211699" y="0"/>
                </a:moveTo>
                <a:lnTo>
                  <a:pt x="390525" y="0"/>
                </a:lnTo>
                <a:lnTo>
                  <a:pt x="339216" y="3429"/>
                </a:lnTo>
                <a:lnTo>
                  <a:pt x="289178" y="13335"/>
                </a:lnTo>
                <a:lnTo>
                  <a:pt x="241045" y="29718"/>
                </a:lnTo>
                <a:lnTo>
                  <a:pt x="195452" y="52197"/>
                </a:lnTo>
                <a:lnTo>
                  <a:pt x="153034" y="80518"/>
                </a:lnTo>
                <a:lnTo>
                  <a:pt x="114426" y="114426"/>
                </a:lnTo>
                <a:lnTo>
                  <a:pt x="80517" y="153035"/>
                </a:lnTo>
                <a:lnTo>
                  <a:pt x="52196" y="195453"/>
                </a:lnTo>
                <a:lnTo>
                  <a:pt x="29717" y="241046"/>
                </a:lnTo>
                <a:lnTo>
                  <a:pt x="13334" y="289179"/>
                </a:lnTo>
                <a:lnTo>
                  <a:pt x="3428" y="339217"/>
                </a:lnTo>
                <a:lnTo>
                  <a:pt x="0" y="390525"/>
                </a:lnTo>
                <a:lnTo>
                  <a:pt x="0" y="641350"/>
                </a:lnTo>
                <a:lnTo>
                  <a:pt x="3428" y="692785"/>
                </a:lnTo>
                <a:lnTo>
                  <a:pt x="13334" y="742696"/>
                </a:lnTo>
                <a:lnTo>
                  <a:pt x="29717" y="790829"/>
                </a:lnTo>
                <a:lnTo>
                  <a:pt x="52196" y="836422"/>
                </a:lnTo>
                <a:lnTo>
                  <a:pt x="80517" y="878840"/>
                </a:lnTo>
                <a:lnTo>
                  <a:pt x="114426" y="917575"/>
                </a:lnTo>
                <a:lnTo>
                  <a:pt x="153034" y="951484"/>
                </a:lnTo>
                <a:lnTo>
                  <a:pt x="195452" y="979805"/>
                </a:lnTo>
                <a:lnTo>
                  <a:pt x="241045" y="1002157"/>
                </a:lnTo>
                <a:lnTo>
                  <a:pt x="289178" y="1018540"/>
                </a:lnTo>
                <a:lnTo>
                  <a:pt x="339216" y="1028573"/>
                </a:lnTo>
                <a:lnTo>
                  <a:pt x="390525" y="1031875"/>
                </a:lnTo>
                <a:lnTo>
                  <a:pt x="5211699" y="1031875"/>
                </a:lnTo>
                <a:lnTo>
                  <a:pt x="5263133" y="1028573"/>
                </a:lnTo>
                <a:lnTo>
                  <a:pt x="5313045" y="1018540"/>
                </a:lnTo>
                <a:lnTo>
                  <a:pt x="5361178" y="1002157"/>
                </a:lnTo>
                <a:lnTo>
                  <a:pt x="5406771" y="979805"/>
                </a:lnTo>
                <a:lnTo>
                  <a:pt x="5449188" y="951484"/>
                </a:lnTo>
                <a:lnTo>
                  <a:pt x="5487924" y="917575"/>
                </a:lnTo>
                <a:lnTo>
                  <a:pt x="5521833" y="878840"/>
                </a:lnTo>
                <a:lnTo>
                  <a:pt x="5550154" y="836422"/>
                </a:lnTo>
                <a:lnTo>
                  <a:pt x="5572506" y="790829"/>
                </a:lnTo>
                <a:lnTo>
                  <a:pt x="5588888" y="742696"/>
                </a:lnTo>
                <a:lnTo>
                  <a:pt x="5598922" y="692785"/>
                </a:lnTo>
                <a:lnTo>
                  <a:pt x="5602224" y="641350"/>
                </a:lnTo>
                <a:lnTo>
                  <a:pt x="5602224" y="390525"/>
                </a:lnTo>
                <a:lnTo>
                  <a:pt x="5598922" y="339217"/>
                </a:lnTo>
                <a:lnTo>
                  <a:pt x="5588888" y="289179"/>
                </a:lnTo>
                <a:lnTo>
                  <a:pt x="5572506" y="241046"/>
                </a:lnTo>
                <a:lnTo>
                  <a:pt x="5550154" y="195453"/>
                </a:lnTo>
                <a:lnTo>
                  <a:pt x="5521833" y="153035"/>
                </a:lnTo>
                <a:lnTo>
                  <a:pt x="5487924" y="114426"/>
                </a:lnTo>
                <a:lnTo>
                  <a:pt x="5449188" y="80518"/>
                </a:lnTo>
                <a:lnTo>
                  <a:pt x="5406771" y="52197"/>
                </a:lnTo>
                <a:lnTo>
                  <a:pt x="5361178" y="29718"/>
                </a:lnTo>
                <a:lnTo>
                  <a:pt x="5313045" y="13335"/>
                </a:lnTo>
                <a:lnTo>
                  <a:pt x="5263133" y="3429"/>
                </a:lnTo>
                <a:lnTo>
                  <a:pt x="5211699" y="0"/>
                </a:lnTo>
                <a:close/>
              </a:path>
            </a:pathLst>
          </a:cu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pPr algn="ctr"/>
            <a:r>
              <a:rPr lang="en-US" altLang="en-US" sz="4000" dirty="0"/>
              <a:t>Noran Mohamed Yassin</a:t>
            </a:r>
          </a:p>
        </p:txBody>
      </p:sp>
      <p:sp>
        <p:nvSpPr>
          <p:cNvPr id="25" name="object 2">
            <a:extLst>
              <a:ext uri="{FF2B5EF4-FFF2-40B4-BE49-F238E27FC236}">
                <a16:creationId xmlns:a16="http://schemas.microsoft.com/office/drawing/2014/main" id="{A6B9C0BF-3AE1-36C8-5084-C3294A4894C0}"/>
              </a:ext>
            </a:extLst>
          </p:cNvPr>
          <p:cNvSpPr/>
          <p:nvPr/>
        </p:nvSpPr>
        <p:spPr>
          <a:xfrm>
            <a:off x="1930698" y="7606051"/>
            <a:ext cx="7365702" cy="1058624"/>
          </a:xfrm>
          <a:custGeom>
            <a:avLst/>
            <a:gdLst/>
            <a:ahLst/>
            <a:cxnLst/>
            <a:rect l="l" t="t" r="r" b="b"/>
            <a:pathLst>
              <a:path w="5602605" h="1031875">
                <a:moveTo>
                  <a:pt x="5211699" y="0"/>
                </a:moveTo>
                <a:lnTo>
                  <a:pt x="390525" y="0"/>
                </a:lnTo>
                <a:lnTo>
                  <a:pt x="339216" y="3429"/>
                </a:lnTo>
                <a:lnTo>
                  <a:pt x="289178" y="13335"/>
                </a:lnTo>
                <a:lnTo>
                  <a:pt x="241045" y="29718"/>
                </a:lnTo>
                <a:lnTo>
                  <a:pt x="195452" y="52197"/>
                </a:lnTo>
                <a:lnTo>
                  <a:pt x="153034" y="80518"/>
                </a:lnTo>
                <a:lnTo>
                  <a:pt x="114426" y="114426"/>
                </a:lnTo>
                <a:lnTo>
                  <a:pt x="80517" y="153035"/>
                </a:lnTo>
                <a:lnTo>
                  <a:pt x="52196" y="195453"/>
                </a:lnTo>
                <a:lnTo>
                  <a:pt x="29717" y="241046"/>
                </a:lnTo>
                <a:lnTo>
                  <a:pt x="13334" y="289179"/>
                </a:lnTo>
                <a:lnTo>
                  <a:pt x="3428" y="339217"/>
                </a:lnTo>
                <a:lnTo>
                  <a:pt x="0" y="390525"/>
                </a:lnTo>
                <a:lnTo>
                  <a:pt x="0" y="641350"/>
                </a:lnTo>
                <a:lnTo>
                  <a:pt x="3428" y="692785"/>
                </a:lnTo>
                <a:lnTo>
                  <a:pt x="13334" y="742696"/>
                </a:lnTo>
                <a:lnTo>
                  <a:pt x="29717" y="790829"/>
                </a:lnTo>
                <a:lnTo>
                  <a:pt x="52196" y="836422"/>
                </a:lnTo>
                <a:lnTo>
                  <a:pt x="80517" y="878840"/>
                </a:lnTo>
                <a:lnTo>
                  <a:pt x="114426" y="917575"/>
                </a:lnTo>
                <a:lnTo>
                  <a:pt x="153034" y="951484"/>
                </a:lnTo>
                <a:lnTo>
                  <a:pt x="195452" y="979805"/>
                </a:lnTo>
                <a:lnTo>
                  <a:pt x="241045" y="1002157"/>
                </a:lnTo>
                <a:lnTo>
                  <a:pt x="289178" y="1018540"/>
                </a:lnTo>
                <a:lnTo>
                  <a:pt x="339216" y="1028573"/>
                </a:lnTo>
                <a:lnTo>
                  <a:pt x="390525" y="1031875"/>
                </a:lnTo>
                <a:lnTo>
                  <a:pt x="5211699" y="1031875"/>
                </a:lnTo>
                <a:lnTo>
                  <a:pt x="5263133" y="1028573"/>
                </a:lnTo>
                <a:lnTo>
                  <a:pt x="5313045" y="1018540"/>
                </a:lnTo>
                <a:lnTo>
                  <a:pt x="5361178" y="1002157"/>
                </a:lnTo>
                <a:lnTo>
                  <a:pt x="5406771" y="979805"/>
                </a:lnTo>
                <a:lnTo>
                  <a:pt x="5449188" y="951484"/>
                </a:lnTo>
                <a:lnTo>
                  <a:pt x="5487924" y="917575"/>
                </a:lnTo>
                <a:lnTo>
                  <a:pt x="5521833" y="878840"/>
                </a:lnTo>
                <a:lnTo>
                  <a:pt x="5550154" y="836422"/>
                </a:lnTo>
                <a:lnTo>
                  <a:pt x="5572506" y="790829"/>
                </a:lnTo>
                <a:lnTo>
                  <a:pt x="5588888" y="742696"/>
                </a:lnTo>
                <a:lnTo>
                  <a:pt x="5598922" y="692785"/>
                </a:lnTo>
                <a:lnTo>
                  <a:pt x="5602224" y="641350"/>
                </a:lnTo>
                <a:lnTo>
                  <a:pt x="5602224" y="390525"/>
                </a:lnTo>
                <a:lnTo>
                  <a:pt x="5598922" y="339217"/>
                </a:lnTo>
                <a:lnTo>
                  <a:pt x="5588888" y="289179"/>
                </a:lnTo>
                <a:lnTo>
                  <a:pt x="5572506" y="241046"/>
                </a:lnTo>
                <a:lnTo>
                  <a:pt x="5550154" y="195453"/>
                </a:lnTo>
                <a:lnTo>
                  <a:pt x="5521833" y="153035"/>
                </a:lnTo>
                <a:lnTo>
                  <a:pt x="5487924" y="114426"/>
                </a:lnTo>
                <a:lnTo>
                  <a:pt x="5449188" y="80518"/>
                </a:lnTo>
                <a:lnTo>
                  <a:pt x="5406771" y="52197"/>
                </a:lnTo>
                <a:lnTo>
                  <a:pt x="5361178" y="29718"/>
                </a:lnTo>
                <a:lnTo>
                  <a:pt x="5313045" y="13335"/>
                </a:lnTo>
                <a:lnTo>
                  <a:pt x="5263133" y="3429"/>
                </a:lnTo>
                <a:lnTo>
                  <a:pt x="5211699" y="0"/>
                </a:lnTo>
                <a:close/>
              </a:path>
            </a:pathLst>
          </a:cu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pPr algn="ctr"/>
            <a:r>
              <a:rPr lang="en-US" altLang="en-US" sz="4000" dirty="0"/>
              <a:t>Amany Gamal </a:t>
            </a:r>
            <a:r>
              <a:rPr lang="en-US" altLang="en-US" sz="4000" dirty="0" err="1"/>
              <a:t>Abozaid</a:t>
            </a:r>
            <a:endParaRPr lang="en-US" altLang="en-US" sz="4000" dirty="0"/>
          </a:p>
        </p:txBody>
      </p:sp>
      <p:sp>
        <p:nvSpPr>
          <p:cNvPr id="26" name="object 2">
            <a:extLst>
              <a:ext uri="{FF2B5EF4-FFF2-40B4-BE49-F238E27FC236}">
                <a16:creationId xmlns:a16="http://schemas.microsoft.com/office/drawing/2014/main" id="{C8127683-FDD9-075D-4283-026D78BA254F}"/>
              </a:ext>
            </a:extLst>
          </p:cNvPr>
          <p:cNvSpPr/>
          <p:nvPr/>
        </p:nvSpPr>
        <p:spPr>
          <a:xfrm>
            <a:off x="1923324" y="9058707"/>
            <a:ext cx="7365702" cy="1058624"/>
          </a:xfrm>
          <a:custGeom>
            <a:avLst/>
            <a:gdLst/>
            <a:ahLst/>
            <a:cxnLst/>
            <a:rect l="l" t="t" r="r" b="b"/>
            <a:pathLst>
              <a:path w="5602605" h="1031875">
                <a:moveTo>
                  <a:pt x="5211699" y="0"/>
                </a:moveTo>
                <a:lnTo>
                  <a:pt x="390525" y="0"/>
                </a:lnTo>
                <a:lnTo>
                  <a:pt x="339216" y="3429"/>
                </a:lnTo>
                <a:lnTo>
                  <a:pt x="289178" y="13335"/>
                </a:lnTo>
                <a:lnTo>
                  <a:pt x="241045" y="29718"/>
                </a:lnTo>
                <a:lnTo>
                  <a:pt x="195452" y="52197"/>
                </a:lnTo>
                <a:lnTo>
                  <a:pt x="153034" y="80518"/>
                </a:lnTo>
                <a:lnTo>
                  <a:pt x="114426" y="114426"/>
                </a:lnTo>
                <a:lnTo>
                  <a:pt x="80517" y="153035"/>
                </a:lnTo>
                <a:lnTo>
                  <a:pt x="52196" y="195453"/>
                </a:lnTo>
                <a:lnTo>
                  <a:pt x="29717" y="241046"/>
                </a:lnTo>
                <a:lnTo>
                  <a:pt x="13334" y="289179"/>
                </a:lnTo>
                <a:lnTo>
                  <a:pt x="3428" y="339217"/>
                </a:lnTo>
                <a:lnTo>
                  <a:pt x="0" y="390525"/>
                </a:lnTo>
                <a:lnTo>
                  <a:pt x="0" y="641350"/>
                </a:lnTo>
                <a:lnTo>
                  <a:pt x="3428" y="692785"/>
                </a:lnTo>
                <a:lnTo>
                  <a:pt x="13334" y="742696"/>
                </a:lnTo>
                <a:lnTo>
                  <a:pt x="29717" y="790829"/>
                </a:lnTo>
                <a:lnTo>
                  <a:pt x="52196" y="836422"/>
                </a:lnTo>
                <a:lnTo>
                  <a:pt x="80517" y="878840"/>
                </a:lnTo>
                <a:lnTo>
                  <a:pt x="114426" y="917575"/>
                </a:lnTo>
                <a:lnTo>
                  <a:pt x="153034" y="951484"/>
                </a:lnTo>
                <a:lnTo>
                  <a:pt x="195452" y="979805"/>
                </a:lnTo>
                <a:lnTo>
                  <a:pt x="241045" y="1002157"/>
                </a:lnTo>
                <a:lnTo>
                  <a:pt x="289178" y="1018540"/>
                </a:lnTo>
                <a:lnTo>
                  <a:pt x="339216" y="1028573"/>
                </a:lnTo>
                <a:lnTo>
                  <a:pt x="390525" y="1031875"/>
                </a:lnTo>
                <a:lnTo>
                  <a:pt x="5211699" y="1031875"/>
                </a:lnTo>
                <a:lnTo>
                  <a:pt x="5263133" y="1028573"/>
                </a:lnTo>
                <a:lnTo>
                  <a:pt x="5313045" y="1018540"/>
                </a:lnTo>
                <a:lnTo>
                  <a:pt x="5361178" y="1002157"/>
                </a:lnTo>
                <a:lnTo>
                  <a:pt x="5406771" y="979805"/>
                </a:lnTo>
                <a:lnTo>
                  <a:pt x="5449188" y="951484"/>
                </a:lnTo>
                <a:lnTo>
                  <a:pt x="5487924" y="917575"/>
                </a:lnTo>
                <a:lnTo>
                  <a:pt x="5521833" y="878840"/>
                </a:lnTo>
                <a:lnTo>
                  <a:pt x="5550154" y="836422"/>
                </a:lnTo>
                <a:lnTo>
                  <a:pt x="5572506" y="790829"/>
                </a:lnTo>
                <a:lnTo>
                  <a:pt x="5588888" y="742696"/>
                </a:lnTo>
                <a:lnTo>
                  <a:pt x="5598922" y="692785"/>
                </a:lnTo>
                <a:lnTo>
                  <a:pt x="5602224" y="641350"/>
                </a:lnTo>
                <a:lnTo>
                  <a:pt x="5602224" y="390525"/>
                </a:lnTo>
                <a:lnTo>
                  <a:pt x="5598922" y="339217"/>
                </a:lnTo>
                <a:lnTo>
                  <a:pt x="5588888" y="289179"/>
                </a:lnTo>
                <a:lnTo>
                  <a:pt x="5572506" y="241046"/>
                </a:lnTo>
                <a:lnTo>
                  <a:pt x="5550154" y="195453"/>
                </a:lnTo>
                <a:lnTo>
                  <a:pt x="5521833" y="153035"/>
                </a:lnTo>
                <a:lnTo>
                  <a:pt x="5487924" y="114426"/>
                </a:lnTo>
                <a:lnTo>
                  <a:pt x="5449188" y="80518"/>
                </a:lnTo>
                <a:lnTo>
                  <a:pt x="5406771" y="52197"/>
                </a:lnTo>
                <a:lnTo>
                  <a:pt x="5361178" y="29718"/>
                </a:lnTo>
                <a:lnTo>
                  <a:pt x="5313045" y="13335"/>
                </a:lnTo>
                <a:lnTo>
                  <a:pt x="5263133" y="3429"/>
                </a:lnTo>
                <a:lnTo>
                  <a:pt x="5211699" y="0"/>
                </a:lnTo>
                <a:close/>
              </a:path>
            </a:pathLst>
          </a:cu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pPr algn="ctr"/>
            <a:r>
              <a:rPr lang="en-US" altLang="en-US" sz="4000" dirty="0"/>
              <a:t>Eman Ahmed</a:t>
            </a:r>
          </a:p>
        </p:txBody>
      </p:sp>
      <p:sp>
        <p:nvSpPr>
          <p:cNvPr id="27" name="object 2">
            <a:extLst>
              <a:ext uri="{FF2B5EF4-FFF2-40B4-BE49-F238E27FC236}">
                <a16:creationId xmlns:a16="http://schemas.microsoft.com/office/drawing/2014/main" id="{EDBD6E88-98D6-A2DB-E2DC-CD0F724E3812}"/>
              </a:ext>
            </a:extLst>
          </p:cNvPr>
          <p:cNvSpPr/>
          <p:nvPr/>
        </p:nvSpPr>
        <p:spPr>
          <a:xfrm>
            <a:off x="1920866" y="1795423"/>
            <a:ext cx="7365702" cy="1058624"/>
          </a:xfrm>
          <a:custGeom>
            <a:avLst/>
            <a:gdLst/>
            <a:ahLst/>
            <a:cxnLst/>
            <a:rect l="l" t="t" r="r" b="b"/>
            <a:pathLst>
              <a:path w="5602605" h="1031875">
                <a:moveTo>
                  <a:pt x="5211699" y="0"/>
                </a:moveTo>
                <a:lnTo>
                  <a:pt x="390525" y="0"/>
                </a:lnTo>
                <a:lnTo>
                  <a:pt x="339216" y="3429"/>
                </a:lnTo>
                <a:lnTo>
                  <a:pt x="289178" y="13335"/>
                </a:lnTo>
                <a:lnTo>
                  <a:pt x="241045" y="29718"/>
                </a:lnTo>
                <a:lnTo>
                  <a:pt x="195452" y="52197"/>
                </a:lnTo>
                <a:lnTo>
                  <a:pt x="153034" y="80518"/>
                </a:lnTo>
                <a:lnTo>
                  <a:pt x="114426" y="114426"/>
                </a:lnTo>
                <a:lnTo>
                  <a:pt x="80517" y="153035"/>
                </a:lnTo>
                <a:lnTo>
                  <a:pt x="52196" y="195453"/>
                </a:lnTo>
                <a:lnTo>
                  <a:pt x="29717" y="241046"/>
                </a:lnTo>
                <a:lnTo>
                  <a:pt x="13334" y="289179"/>
                </a:lnTo>
                <a:lnTo>
                  <a:pt x="3428" y="339217"/>
                </a:lnTo>
                <a:lnTo>
                  <a:pt x="0" y="390525"/>
                </a:lnTo>
                <a:lnTo>
                  <a:pt x="0" y="641350"/>
                </a:lnTo>
                <a:lnTo>
                  <a:pt x="3428" y="692785"/>
                </a:lnTo>
                <a:lnTo>
                  <a:pt x="13334" y="742696"/>
                </a:lnTo>
                <a:lnTo>
                  <a:pt x="29717" y="790829"/>
                </a:lnTo>
                <a:lnTo>
                  <a:pt x="52196" y="836422"/>
                </a:lnTo>
                <a:lnTo>
                  <a:pt x="80517" y="878840"/>
                </a:lnTo>
                <a:lnTo>
                  <a:pt x="114426" y="917575"/>
                </a:lnTo>
                <a:lnTo>
                  <a:pt x="153034" y="951484"/>
                </a:lnTo>
                <a:lnTo>
                  <a:pt x="195452" y="979805"/>
                </a:lnTo>
                <a:lnTo>
                  <a:pt x="241045" y="1002157"/>
                </a:lnTo>
                <a:lnTo>
                  <a:pt x="289178" y="1018540"/>
                </a:lnTo>
                <a:lnTo>
                  <a:pt x="339216" y="1028573"/>
                </a:lnTo>
                <a:lnTo>
                  <a:pt x="390525" y="1031875"/>
                </a:lnTo>
                <a:lnTo>
                  <a:pt x="5211699" y="1031875"/>
                </a:lnTo>
                <a:lnTo>
                  <a:pt x="5263133" y="1028573"/>
                </a:lnTo>
                <a:lnTo>
                  <a:pt x="5313045" y="1018540"/>
                </a:lnTo>
                <a:lnTo>
                  <a:pt x="5361178" y="1002157"/>
                </a:lnTo>
                <a:lnTo>
                  <a:pt x="5406771" y="979805"/>
                </a:lnTo>
                <a:lnTo>
                  <a:pt x="5449188" y="951484"/>
                </a:lnTo>
                <a:lnTo>
                  <a:pt x="5487924" y="917575"/>
                </a:lnTo>
                <a:lnTo>
                  <a:pt x="5521833" y="878840"/>
                </a:lnTo>
                <a:lnTo>
                  <a:pt x="5550154" y="836422"/>
                </a:lnTo>
                <a:lnTo>
                  <a:pt x="5572506" y="790829"/>
                </a:lnTo>
                <a:lnTo>
                  <a:pt x="5588888" y="742696"/>
                </a:lnTo>
                <a:lnTo>
                  <a:pt x="5598922" y="692785"/>
                </a:lnTo>
                <a:lnTo>
                  <a:pt x="5602224" y="641350"/>
                </a:lnTo>
                <a:lnTo>
                  <a:pt x="5602224" y="390525"/>
                </a:lnTo>
                <a:lnTo>
                  <a:pt x="5598922" y="339217"/>
                </a:lnTo>
                <a:lnTo>
                  <a:pt x="5588888" y="289179"/>
                </a:lnTo>
                <a:lnTo>
                  <a:pt x="5572506" y="241046"/>
                </a:lnTo>
                <a:lnTo>
                  <a:pt x="5550154" y="195453"/>
                </a:lnTo>
                <a:lnTo>
                  <a:pt x="5521833" y="153035"/>
                </a:lnTo>
                <a:lnTo>
                  <a:pt x="5487924" y="114426"/>
                </a:lnTo>
                <a:lnTo>
                  <a:pt x="5449188" y="80518"/>
                </a:lnTo>
                <a:lnTo>
                  <a:pt x="5406771" y="52197"/>
                </a:lnTo>
                <a:lnTo>
                  <a:pt x="5361178" y="29718"/>
                </a:lnTo>
                <a:lnTo>
                  <a:pt x="5313045" y="13335"/>
                </a:lnTo>
                <a:lnTo>
                  <a:pt x="5263133" y="3429"/>
                </a:lnTo>
                <a:lnTo>
                  <a:pt x="5211699" y="0"/>
                </a:lnTo>
                <a:close/>
              </a:path>
            </a:pathLst>
          </a:cu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/>
          <a:lstStyle/>
          <a:p>
            <a:pPr algn="ctr"/>
            <a:r>
              <a:rPr lang="en-US" altLang="en-US" sz="4000" dirty="0"/>
              <a:t>Mohamed Ahmed Aboelela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03622" y="1912289"/>
            <a:ext cx="6324600" cy="77057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28420" cy="1373505"/>
          </a:xfrm>
          <a:prstGeom prst="rect">
            <a:avLst/>
          </a:prstGeom>
        </p:spPr>
      </p:pic>
      <p:sp>
        <p:nvSpPr>
          <p:cNvPr id="10" name="object 2">
            <a:extLst>
              <a:ext uri="{FF2B5EF4-FFF2-40B4-BE49-F238E27FC236}">
                <a16:creationId xmlns:a16="http://schemas.microsoft.com/office/drawing/2014/main" id="{D36DFFB6-F13D-5133-74FE-F22DAC71F4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8468" y="322528"/>
            <a:ext cx="11859005" cy="3853941"/>
          </a:xfrm>
          <a:prstGeom prst="rect">
            <a:avLst/>
          </a:prstGeom>
        </p:spPr>
        <p:txBody>
          <a:bodyPr vert="horz" wrap="square" lIns="0" tIns="1350264" rIns="0" bIns="0" rtlCol="0">
            <a:spAutoFit/>
          </a:bodyPr>
          <a:lstStyle/>
          <a:p>
            <a:pPr marL="1960245">
              <a:lnSpc>
                <a:spcPct val="100000"/>
              </a:lnSpc>
              <a:spcBef>
                <a:spcPts val="115"/>
              </a:spcBef>
            </a:pPr>
            <a:r>
              <a:rPr b="0" spc="-10" dirty="0">
                <a:latin typeface="Trebuchet MS" panose="020B0603020202020204"/>
                <a:cs typeface="Trebuchet MS" panose="020B0603020202020204"/>
              </a:rPr>
              <a:t>Introduction</a:t>
            </a:r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95194DBE-EDB1-9547-5EBF-282EE3800919}"/>
              </a:ext>
            </a:extLst>
          </p:cNvPr>
          <p:cNvSpPr txBox="1"/>
          <p:nvPr/>
        </p:nvSpPr>
        <p:spPr>
          <a:xfrm>
            <a:off x="685800" y="3595828"/>
            <a:ext cx="8991600" cy="37380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17000"/>
              </a:lnSpc>
              <a:spcBef>
                <a:spcPts val="90"/>
              </a:spcBef>
            </a:pPr>
            <a:r>
              <a:rPr sz="3500" b="1" dirty="0">
                <a:solidFill>
                  <a:srgbClr val="1F9266"/>
                </a:solidFill>
                <a:latin typeface="Trebuchet MS" panose="020B0603020202020204"/>
                <a:ea typeface="+mn-ea"/>
              </a:rPr>
              <a:t>The "UK Train Rides Report" project was developed to provide a comprehensive and detailed analysis of railway operations in the United Kingdom. This report is  the  result  of  a  collaborative  effort  focused  on</a:t>
            </a:r>
          </a:p>
        </p:txBody>
      </p:sp>
      <p:sp>
        <p:nvSpPr>
          <p:cNvPr id="12" name="object 4">
            <a:extLst>
              <a:ext uri="{FF2B5EF4-FFF2-40B4-BE49-F238E27FC236}">
                <a16:creationId xmlns:a16="http://schemas.microsoft.com/office/drawing/2014/main" id="{27030B44-D38C-59EB-F27E-1D75A7A37601}"/>
              </a:ext>
            </a:extLst>
          </p:cNvPr>
          <p:cNvSpPr txBox="1"/>
          <p:nvPr/>
        </p:nvSpPr>
        <p:spPr>
          <a:xfrm>
            <a:off x="685800" y="7353833"/>
            <a:ext cx="9366250" cy="12186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3820" marR="5080" indent="-71755">
              <a:lnSpc>
                <a:spcPct val="117000"/>
              </a:lnSpc>
              <a:spcBef>
                <a:spcPts val="100"/>
              </a:spcBef>
              <a:tabLst>
                <a:tab pos="647065" algn="l"/>
                <a:tab pos="809625" algn="l"/>
                <a:tab pos="1505585" algn="l"/>
                <a:tab pos="2068830" algn="l"/>
                <a:tab pos="2338070" algn="l"/>
                <a:tab pos="3613150" algn="l"/>
                <a:tab pos="3804920" algn="l"/>
                <a:tab pos="4541520" algn="l"/>
                <a:tab pos="4703445" algn="l"/>
                <a:tab pos="5252085" algn="l"/>
              </a:tabLst>
            </a:pPr>
            <a:r>
              <a:rPr lang="en-US" sz="3500" b="1" dirty="0">
                <a:solidFill>
                  <a:srgbClr val="1F9266"/>
                </a:solidFill>
                <a:latin typeface="Trebuchet MS" panose="020B0603020202020204"/>
                <a:ea typeface="+mn-ea"/>
              </a:rPr>
              <a:t>and	 resolving critical	the 	passengerissuesin train as well as optimizing</a:t>
            </a:r>
          </a:p>
        </p:txBody>
      </p:sp>
      <p:sp>
        <p:nvSpPr>
          <p:cNvPr id="13" name="object 5">
            <a:extLst>
              <a:ext uri="{FF2B5EF4-FFF2-40B4-BE49-F238E27FC236}">
                <a16:creationId xmlns:a16="http://schemas.microsoft.com/office/drawing/2014/main" id="{A933E1BC-AACC-2996-F0B9-FFDAF067365F}"/>
              </a:ext>
            </a:extLst>
          </p:cNvPr>
          <p:cNvSpPr txBox="1"/>
          <p:nvPr/>
        </p:nvSpPr>
        <p:spPr>
          <a:xfrm>
            <a:off x="1303486" y="6704371"/>
            <a:ext cx="8714405" cy="5884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7000"/>
              </a:lnSpc>
              <a:spcBef>
                <a:spcPts val="100"/>
              </a:spcBef>
            </a:pPr>
            <a:r>
              <a:rPr sz="3500" b="1" dirty="0">
                <a:solidFill>
                  <a:srgbClr val="1F9266"/>
                </a:solidFill>
                <a:latin typeface="Trebuchet MS" panose="020B0603020202020204"/>
                <a:ea typeface="+mn-ea"/>
              </a:rPr>
              <a:t>identifying operations</a:t>
            </a:r>
            <a:r>
              <a:rPr sz="2450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, </a:t>
            </a:r>
            <a:r>
              <a:rPr sz="3500" b="1" dirty="0">
                <a:solidFill>
                  <a:srgbClr val="1F9266"/>
                </a:solidFill>
                <a:latin typeface="Trebuchet MS" panose="020B0603020202020204"/>
                <a:ea typeface="+mn-ea"/>
              </a:rPr>
              <a:t>experience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199F0B7-086F-C746-0F57-4B0FA7B38C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36" t="8322"/>
          <a:stretch>
            <a:fillRect/>
          </a:stretch>
        </p:blipFill>
        <p:spPr>
          <a:xfrm>
            <a:off x="0" y="0"/>
            <a:ext cx="1371600" cy="13792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53125" y="2008708"/>
            <a:ext cx="6162040" cy="1094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000" dirty="0"/>
              <a:t>Project</a:t>
            </a:r>
            <a:r>
              <a:rPr sz="7000" spc="160" dirty="0"/>
              <a:t> </a:t>
            </a:r>
            <a:r>
              <a:rPr sz="7000" spc="-10" dirty="0"/>
              <a:t>Phases</a:t>
            </a:r>
            <a:endParaRPr sz="7000"/>
          </a:p>
        </p:txBody>
      </p:sp>
      <p:sp>
        <p:nvSpPr>
          <p:cNvPr id="3" name="object 3"/>
          <p:cNvSpPr txBox="1"/>
          <p:nvPr/>
        </p:nvSpPr>
        <p:spPr>
          <a:xfrm>
            <a:off x="2633217" y="3783024"/>
            <a:ext cx="2531110" cy="6445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50" b="1" spc="-10" dirty="0">
                <a:solidFill>
                  <a:srgbClr val="1F9266"/>
                </a:solidFill>
                <a:latin typeface="Arial" panose="020B0604020202020204"/>
                <a:cs typeface="Arial" panose="020B0604020202020204"/>
              </a:rPr>
              <a:t>Questions</a:t>
            </a:r>
            <a:endParaRPr sz="4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50785" y="3822953"/>
            <a:ext cx="2963545" cy="552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450" b="1" dirty="0">
                <a:solidFill>
                  <a:srgbClr val="1F9266"/>
                </a:solidFill>
                <a:latin typeface="Arial" panose="020B0604020202020204"/>
                <a:cs typeface="Arial" panose="020B0604020202020204"/>
              </a:rPr>
              <a:t>Data</a:t>
            </a:r>
            <a:r>
              <a:rPr sz="3450" b="1" spc="190" dirty="0">
                <a:solidFill>
                  <a:srgbClr val="1F92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450" b="1" spc="-10" dirty="0">
                <a:solidFill>
                  <a:srgbClr val="1F9266"/>
                </a:solidFill>
                <a:latin typeface="Arial" panose="020B0604020202020204"/>
                <a:cs typeface="Arial" panose="020B0604020202020204"/>
              </a:rPr>
              <a:t>Cleaning</a:t>
            </a:r>
            <a:endParaRPr sz="3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736194" y="3883914"/>
            <a:ext cx="939800" cy="552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450" b="1" spc="-25" dirty="0">
                <a:solidFill>
                  <a:srgbClr val="1F9266"/>
                </a:solidFill>
                <a:latin typeface="Arial" panose="020B0604020202020204"/>
                <a:cs typeface="Arial" panose="020B0604020202020204"/>
              </a:rPr>
              <a:t>DAX</a:t>
            </a:r>
            <a:endParaRPr sz="3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87622" y="5984188"/>
            <a:ext cx="400685" cy="702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450" spc="420" dirty="0">
                <a:latin typeface="Arial MT"/>
                <a:cs typeface="Arial MT"/>
              </a:rPr>
              <a:t>1</a:t>
            </a:r>
            <a:endParaRPr sz="44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21477" y="5786053"/>
            <a:ext cx="1083310" cy="1776095"/>
          </a:xfrm>
          <a:prstGeom prst="rect">
            <a:avLst/>
          </a:prstGeom>
        </p:spPr>
        <p:txBody>
          <a:bodyPr vert="horz" wrap="square" lIns="0" tIns="209550" rIns="0" bIns="0" rtlCol="0">
            <a:spAutoFit/>
          </a:bodyPr>
          <a:lstStyle/>
          <a:p>
            <a:pPr marL="226060">
              <a:lnSpc>
                <a:spcPct val="100000"/>
              </a:lnSpc>
              <a:spcBef>
                <a:spcPts val="1650"/>
              </a:spcBef>
            </a:pPr>
            <a:r>
              <a:rPr sz="4450" spc="420" dirty="0">
                <a:latin typeface="Arial MT"/>
                <a:cs typeface="Arial MT"/>
              </a:rPr>
              <a:t>2</a:t>
            </a:r>
            <a:endParaRPr sz="4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50"/>
              </a:spcBef>
            </a:pPr>
            <a:r>
              <a:rPr sz="4450" b="1" spc="-25" dirty="0">
                <a:solidFill>
                  <a:srgbClr val="1F9266"/>
                </a:solidFill>
                <a:latin typeface="Arial" panose="020B0604020202020204"/>
                <a:cs typeface="Arial" panose="020B0604020202020204"/>
              </a:rPr>
              <a:t>ETL</a:t>
            </a:r>
            <a:endParaRPr sz="4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12657" y="5984188"/>
            <a:ext cx="400685" cy="702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450" spc="420" dirty="0">
                <a:latin typeface="Arial MT"/>
                <a:cs typeface="Arial MT"/>
              </a:rPr>
              <a:t>3</a:t>
            </a:r>
            <a:endParaRPr sz="44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382759" y="5729110"/>
            <a:ext cx="3222625" cy="2292985"/>
          </a:xfrm>
          <a:prstGeom prst="rect">
            <a:avLst/>
          </a:prstGeom>
        </p:spPr>
        <p:txBody>
          <a:bodyPr vert="horz" wrap="square" lIns="0" tIns="266700" rIns="0" bIns="0" rtlCol="0">
            <a:spAutoFit/>
          </a:bodyPr>
          <a:lstStyle/>
          <a:p>
            <a:pPr marR="33655" algn="ctr">
              <a:lnSpc>
                <a:spcPct val="100000"/>
              </a:lnSpc>
              <a:spcBef>
                <a:spcPts val="2100"/>
              </a:spcBef>
            </a:pPr>
            <a:r>
              <a:rPr sz="4450" spc="420" dirty="0">
                <a:latin typeface="Arial MT"/>
                <a:cs typeface="Arial MT"/>
              </a:rPr>
              <a:t>4</a:t>
            </a:r>
            <a:endParaRPr sz="4450">
              <a:latin typeface="Arial MT"/>
              <a:cs typeface="Arial MT"/>
            </a:endParaRPr>
          </a:p>
          <a:p>
            <a:pPr marL="12700" marR="5080" algn="ctr">
              <a:lnSpc>
                <a:spcPct val="116000"/>
              </a:lnSpc>
              <a:spcBef>
                <a:spcPts val="905"/>
              </a:spcBef>
            </a:pPr>
            <a:r>
              <a:rPr sz="3450" b="1" spc="-20" dirty="0">
                <a:solidFill>
                  <a:srgbClr val="1F9266"/>
                </a:solidFill>
                <a:latin typeface="Arial" panose="020B0604020202020204"/>
                <a:cs typeface="Arial" panose="020B0604020202020204"/>
              </a:rPr>
              <a:t>Normalization&amp; </a:t>
            </a:r>
            <a:r>
              <a:rPr sz="3450" b="1" dirty="0">
                <a:solidFill>
                  <a:srgbClr val="1F9266"/>
                </a:solidFill>
                <a:latin typeface="Arial" panose="020B0604020202020204"/>
                <a:cs typeface="Arial" panose="020B0604020202020204"/>
              </a:rPr>
              <a:t>Data </a:t>
            </a:r>
            <a:r>
              <a:rPr sz="3450" b="1" spc="-10" dirty="0">
                <a:solidFill>
                  <a:srgbClr val="1F9266"/>
                </a:solidFill>
                <a:latin typeface="Arial" panose="020B0604020202020204"/>
                <a:cs typeface="Arial" panose="020B0604020202020204"/>
              </a:rPr>
              <a:t>Modeling</a:t>
            </a:r>
            <a:endParaRPr sz="34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013562" y="5984188"/>
            <a:ext cx="400685" cy="702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450" spc="420" dirty="0">
                <a:latin typeface="Arial MT"/>
                <a:cs typeface="Arial MT"/>
              </a:rPr>
              <a:t>5</a:t>
            </a:r>
            <a:endParaRPr sz="44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620112" y="5631162"/>
            <a:ext cx="2689860" cy="1857375"/>
          </a:xfrm>
          <a:prstGeom prst="rect">
            <a:avLst/>
          </a:prstGeom>
        </p:spPr>
        <p:txBody>
          <a:bodyPr vert="horz" wrap="square" lIns="0" tIns="364490" rIns="0" bIns="0" rtlCol="0">
            <a:spAutoFit/>
          </a:bodyPr>
          <a:lstStyle/>
          <a:p>
            <a:pPr marR="250825" algn="ctr">
              <a:lnSpc>
                <a:spcPct val="100000"/>
              </a:lnSpc>
              <a:spcBef>
                <a:spcPts val="2870"/>
              </a:spcBef>
            </a:pPr>
            <a:r>
              <a:rPr sz="4450" spc="420" dirty="0">
                <a:latin typeface="Arial MT"/>
                <a:cs typeface="Arial MT"/>
              </a:rPr>
              <a:t>6</a:t>
            </a:r>
            <a:endParaRPr sz="4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70"/>
              </a:spcBef>
            </a:pPr>
            <a:r>
              <a:rPr sz="3450" b="1" spc="-10" dirty="0">
                <a:solidFill>
                  <a:srgbClr val="1F9266"/>
                </a:solidFill>
                <a:latin typeface="Arial" panose="020B0604020202020204"/>
                <a:cs typeface="Arial" panose="020B0604020202020204"/>
              </a:rPr>
              <a:t>Visualization</a:t>
            </a:r>
            <a:endParaRPr sz="34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955800" y="4736338"/>
            <a:ext cx="14376400" cy="817880"/>
            <a:chOff x="1955800" y="4736338"/>
            <a:chExt cx="14376400" cy="817880"/>
          </a:xfrm>
        </p:grpSpPr>
        <p:sp>
          <p:nvSpPr>
            <p:cNvPr id="13" name="object 13"/>
            <p:cNvSpPr/>
            <p:nvPr/>
          </p:nvSpPr>
          <p:spPr>
            <a:xfrm>
              <a:off x="1955800" y="5157343"/>
              <a:ext cx="14376400" cy="0"/>
            </a:xfrm>
            <a:custGeom>
              <a:avLst/>
              <a:gdLst/>
              <a:ahLst/>
              <a:cxnLst/>
              <a:rect l="l" t="t" r="r" b="b"/>
              <a:pathLst>
                <a:path w="14376400">
                  <a:moveTo>
                    <a:pt x="0" y="0"/>
                  </a:moveTo>
                  <a:lnTo>
                    <a:pt x="14376019" y="0"/>
                  </a:lnTo>
                </a:path>
              </a:pathLst>
            </a:custGeom>
            <a:ln w="380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292843" y="4736337"/>
              <a:ext cx="12684760" cy="817880"/>
            </a:xfrm>
            <a:custGeom>
              <a:avLst/>
              <a:gdLst/>
              <a:ahLst/>
              <a:cxnLst/>
              <a:rect l="l" t="t" r="r" b="b"/>
              <a:pathLst>
                <a:path w="12684760" h="817879">
                  <a:moveTo>
                    <a:pt x="793889" y="421005"/>
                  </a:moveTo>
                  <a:lnTo>
                    <a:pt x="397014" y="24003"/>
                  </a:lnTo>
                  <a:lnTo>
                    <a:pt x="0" y="421005"/>
                  </a:lnTo>
                  <a:lnTo>
                    <a:pt x="397014" y="817880"/>
                  </a:lnTo>
                  <a:lnTo>
                    <a:pt x="793889" y="421005"/>
                  </a:lnTo>
                  <a:close/>
                </a:path>
                <a:path w="12684760" h="817879">
                  <a:moveTo>
                    <a:pt x="3213481" y="421005"/>
                  </a:moveTo>
                  <a:lnTo>
                    <a:pt x="2816618" y="24003"/>
                  </a:lnTo>
                  <a:lnTo>
                    <a:pt x="2419616" y="421005"/>
                  </a:lnTo>
                  <a:lnTo>
                    <a:pt x="2816618" y="817880"/>
                  </a:lnTo>
                  <a:lnTo>
                    <a:pt x="3213481" y="421005"/>
                  </a:lnTo>
                  <a:close/>
                </a:path>
                <a:path w="12684760" h="817879">
                  <a:moveTo>
                    <a:pt x="5642749" y="397002"/>
                  </a:moveTo>
                  <a:lnTo>
                    <a:pt x="5245747" y="0"/>
                  </a:lnTo>
                  <a:lnTo>
                    <a:pt x="4848872" y="397002"/>
                  </a:lnTo>
                  <a:lnTo>
                    <a:pt x="5245747" y="793877"/>
                  </a:lnTo>
                  <a:lnTo>
                    <a:pt x="5642749" y="397002"/>
                  </a:lnTo>
                  <a:close/>
                </a:path>
                <a:path w="12684760" h="817879">
                  <a:moveTo>
                    <a:pt x="8047876" y="398907"/>
                  </a:moveTo>
                  <a:lnTo>
                    <a:pt x="7651001" y="1905"/>
                  </a:lnTo>
                  <a:lnTo>
                    <a:pt x="7253999" y="398907"/>
                  </a:lnTo>
                  <a:lnTo>
                    <a:pt x="7651001" y="795782"/>
                  </a:lnTo>
                  <a:lnTo>
                    <a:pt x="8047876" y="398907"/>
                  </a:lnTo>
                  <a:close/>
                </a:path>
                <a:path w="12684760" h="817879">
                  <a:moveTo>
                    <a:pt x="10289553" y="397002"/>
                  </a:moveTo>
                  <a:lnTo>
                    <a:pt x="9892678" y="0"/>
                  </a:lnTo>
                  <a:lnTo>
                    <a:pt x="9495676" y="397002"/>
                  </a:lnTo>
                  <a:lnTo>
                    <a:pt x="9892678" y="793877"/>
                  </a:lnTo>
                  <a:lnTo>
                    <a:pt x="10289553" y="397002"/>
                  </a:lnTo>
                  <a:close/>
                </a:path>
                <a:path w="12684760" h="817879">
                  <a:moveTo>
                    <a:pt x="12684519" y="398907"/>
                  </a:moveTo>
                  <a:lnTo>
                    <a:pt x="12287517" y="1905"/>
                  </a:lnTo>
                  <a:lnTo>
                    <a:pt x="11890642" y="398907"/>
                  </a:lnTo>
                  <a:lnTo>
                    <a:pt x="12287517" y="795782"/>
                  </a:lnTo>
                  <a:lnTo>
                    <a:pt x="12684519" y="3989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/>
          <p:nvPr/>
        </p:nvSpPr>
        <p:spPr>
          <a:xfrm>
            <a:off x="17064989" y="9079858"/>
            <a:ext cx="1223010" cy="1207135"/>
          </a:xfrm>
          <a:custGeom>
            <a:avLst/>
            <a:gdLst/>
            <a:ahLst/>
            <a:cxnLst/>
            <a:rect l="l" t="t" r="r" b="b"/>
            <a:pathLst>
              <a:path w="1223009" h="1207134">
                <a:moveTo>
                  <a:pt x="1222679" y="0"/>
                </a:moveTo>
                <a:lnTo>
                  <a:pt x="0" y="0"/>
                </a:lnTo>
                <a:lnTo>
                  <a:pt x="0" y="1206779"/>
                </a:lnTo>
                <a:lnTo>
                  <a:pt x="1222679" y="1206779"/>
                </a:lnTo>
                <a:lnTo>
                  <a:pt x="1222679" y="0"/>
                </a:lnTo>
                <a:close/>
              </a:path>
            </a:pathLst>
          </a:custGeom>
          <a:solidFill>
            <a:srgbClr val="1F926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28420" cy="137350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07AB64B-5DFB-C28E-800C-297CF212A5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36" t="8322"/>
          <a:stretch>
            <a:fillRect/>
          </a:stretch>
        </p:blipFill>
        <p:spPr>
          <a:xfrm>
            <a:off x="0" y="0"/>
            <a:ext cx="1371600" cy="13792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073" y="1485848"/>
            <a:ext cx="11859005" cy="3853941"/>
          </a:xfrm>
          <a:prstGeom prst="rect">
            <a:avLst/>
          </a:prstGeom>
        </p:spPr>
        <p:txBody>
          <a:bodyPr vert="horz" wrap="square" lIns="0" tIns="1533651" rIns="0" bIns="0" rtlCol="0">
            <a:spAutoFit/>
          </a:bodyPr>
          <a:lstStyle/>
          <a:p>
            <a:pPr marL="1494155" marR="5080" indent="228600">
              <a:lnSpc>
                <a:spcPts val="9150"/>
              </a:lnSpc>
              <a:spcBef>
                <a:spcPts val="95"/>
              </a:spcBef>
            </a:pPr>
            <a:r>
              <a:rPr spc="150" dirty="0"/>
              <a:t>Data</a:t>
            </a:r>
            <a:r>
              <a:rPr spc="-130" dirty="0"/>
              <a:t> </a:t>
            </a:r>
            <a:r>
              <a:rPr spc="130" dirty="0"/>
              <a:t>Analysis </a:t>
            </a:r>
            <a:r>
              <a:rPr spc="140" dirty="0"/>
              <a:t>Questions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841105" y="2022475"/>
            <a:ext cx="9446895" cy="8264525"/>
            <a:chOff x="8841105" y="2022475"/>
            <a:chExt cx="9446895" cy="8264525"/>
          </a:xfrm>
        </p:grpSpPr>
        <p:sp>
          <p:nvSpPr>
            <p:cNvPr id="4" name="object 4"/>
            <p:cNvSpPr/>
            <p:nvPr/>
          </p:nvSpPr>
          <p:spPr>
            <a:xfrm>
              <a:off x="15642209" y="6336100"/>
              <a:ext cx="2646045" cy="3950970"/>
            </a:xfrm>
            <a:custGeom>
              <a:avLst/>
              <a:gdLst/>
              <a:ahLst/>
              <a:cxnLst/>
              <a:rect l="l" t="t" r="r" b="b"/>
              <a:pathLst>
                <a:path w="2646044" h="3950970">
                  <a:moveTo>
                    <a:pt x="2645663" y="0"/>
                  </a:moveTo>
                  <a:lnTo>
                    <a:pt x="0" y="0"/>
                  </a:lnTo>
                  <a:lnTo>
                    <a:pt x="0" y="3950842"/>
                  </a:lnTo>
                  <a:lnTo>
                    <a:pt x="2645663" y="3950842"/>
                  </a:lnTo>
                  <a:lnTo>
                    <a:pt x="2645663" y="0"/>
                  </a:lnTo>
                  <a:close/>
                </a:path>
              </a:pathLst>
            </a:custGeom>
            <a:solidFill>
              <a:srgbClr val="1F92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96220" y="2373375"/>
              <a:ext cx="7867649" cy="49815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41105" y="2022475"/>
              <a:ext cx="1765173" cy="2610485"/>
            </a:xfrm>
            <a:prstGeom prst="rect">
              <a:avLst/>
            </a:prstGeom>
          </p:spPr>
        </p:pic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328420" cy="13735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83539A-E045-3D67-1DBB-8F967A4295C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736" t="8322"/>
          <a:stretch>
            <a:fillRect/>
          </a:stretch>
        </p:blipFill>
        <p:spPr>
          <a:xfrm>
            <a:off x="0" y="0"/>
            <a:ext cx="1371600" cy="13792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24545" y="724103"/>
            <a:ext cx="4597400" cy="11709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140" dirty="0"/>
              <a:t>Questions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9156" y="2241270"/>
            <a:ext cx="17252315" cy="7230109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§</a:t>
            </a:r>
            <a:r>
              <a:rPr sz="2900" b="1" spc="16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Performance</a:t>
            </a:r>
            <a:r>
              <a:rPr sz="2900" b="1" spc="3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Analysis</a:t>
            </a:r>
            <a:endParaRPr sz="2900">
              <a:latin typeface="Trebuchet MS" panose="020B0603020202020204"/>
              <a:cs typeface="Trebuchet MS" panose="020B0603020202020204"/>
            </a:endParaRPr>
          </a:p>
          <a:p>
            <a:pPr marL="423545" indent="-410845">
              <a:lnSpc>
                <a:spcPct val="100000"/>
              </a:lnSpc>
              <a:spcBef>
                <a:spcPts val="575"/>
              </a:spcBef>
              <a:buAutoNum type="arabicPlain"/>
              <a:tabLst>
                <a:tab pos="423545" algn="l"/>
              </a:tabLst>
            </a:pP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What</a:t>
            </a:r>
            <a:r>
              <a:rPr sz="2900" b="1" spc="14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percentage</a:t>
            </a:r>
            <a:r>
              <a:rPr sz="2900" b="1" spc="13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2900" b="1" spc="5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total</a:t>
            </a:r>
            <a:r>
              <a:rPr sz="2900" b="1" spc="3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trips</a:t>
            </a:r>
            <a:r>
              <a:rPr sz="2900" b="1" spc="2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were</a:t>
            </a:r>
            <a:r>
              <a:rPr sz="2900" b="1" spc="16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cancelled</a:t>
            </a:r>
            <a:r>
              <a:rPr sz="2900" b="1" spc="14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or</a:t>
            </a:r>
            <a:r>
              <a:rPr sz="2900" b="1" spc="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delayed?</a:t>
            </a:r>
            <a:endParaRPr sz="2900">
              <a:latin typeface="Trebuchet MS" panose="020B0603020202020204"/>
              <a:cs typeface="Trebuchet MS" panose="020B0603020202020204"/>
            </a:endParaRPr>
          </a:p>
          <a:p>
            <a:pPr marL="450215" indent="-434975">
              <a:lnSpc>
                <a:spcPct val="100000"/>
              </a:lnSpc>
              <a:spcBef>
                <a:spcPts val="555"/>
              </a:spcBef>
              <a:buAutoNum type="arabicPlain"/>
              <a:tabLst>
                <a:tab pos="450215" algn="l"/>
              </a:tabLst>
            </a:pP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Which</a:t>
            </a:r>
            <a:r>
              <a:rPr sz="2900" b="1" spc="14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routes</a:t>
            </a:r>
            <a:r>
              <a:rPr sz="2900" b="1" spc="15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experience</a:t>
            </a:r>
            <a:r>
              <a:rPr sz="2900" b="1" spc="14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900" b="1" spc="14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highest</a:t>
            </a:r>
            <a:r>
              <a:rPr sz="2900" b="1" spc="16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number</a:t>
            </a:r>
            <a:r>
              <a:rPr sz="2900" b="1" spc="7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2900" b="1" spc="6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delays</a:t>
            </a:r>
            <a:r>
              <a:rPr sz="2900" b="1" spc="16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or</a:t>
            </a:r>
            <a:r>
              <a:rPr sz="2900" b="1" spc="6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cancellations?</a:t>
            </a:r>
            <a:endParaRPr sz="290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§</a:t>
            </a:r>
            <a:r>
              <a:rPr sz="2900" b="1" spc="-15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spc="5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Revenue</a:t>
            </a:r>
            <a:r>
              <a:rPr sz="2900" b="1" spc="-22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Analysis</a:t>
            </a:r>
            <a:endParaRPr sz="2900">
              <a:latin typeface="Trebuchet MS" panose="020B0603020202020204"/>
              <a:cs typeface="Trebuchet MS" panose="020B0603020202020204"/>
            </a:endParaRPr>
          </a:p>
          <a:p>
            <a:pPr marL="447675" indent="-434975">
              <a:lnSpc>
                <a:spcPct val="100000"/>
              </a:lnSpc>
              <a:spcBef>
                <a:spcPts val="580"/>
              </a:spcBef>
              <a:buAutoNum type="arabicPlain" startAt="3"/>
              <a:tabLst>
                <a:tab pos="447675" algn="l"/>
              </a:tabLst>
            </a:pPr>
            <a:r>
              <a:rPr sz="2900" b="1" spc="5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Which</a:t>
            </a:r>
            <a:r>
              <a:rPr sz="2900" b="1" spc="-3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Stations</a:t>
            </a:r>
            <a:r>
              <a:rPr sz="2900" b="1" spc="-2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spc="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generate</a:t>
            </a:r>
            <a:r>
              <a:rPr sz="2900" b="1" spc="-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900" b="1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spc="5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most</a:t>
            </a:r>
            <a:r>
              <a:rPr sz="2900" b="1" spc="-4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spc="4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revenue?</a:t>
            </a:r>
            <a:endParaRPr sz="2900">
              <a:latin typeface="Trebuchet MS" panose="020B0603020202020204"/>
              <a:cs typeface="Trebuchet MS" panose="020B0603020202020204"/>
            </a:endParaRPr>
          </a:p>
          <a:p>
            <a:pPr marL="453390" indent="-438150">
              <a:lnSpc>
                <a:spcPct val="100000"/>
              </a:lnSpc>
              <a:spcBef>
                <a:spcPts val="575"/>
              </a:spcBef>
              <a:buAutoNum type="arabicPlain" startAt="3"/>
              <a:tabLst>
                <a:tab pos="453390" algn="l"/>
              </a:tabLst>
            </a:pPr>
            <a:r>
              <a:rPr sz="2900" b="1" spc="6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What</a:t>
            </a:r>
            <a:r>
              <a:rPr sz="2900" b="1" spc="-13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is</a:t>
            </a:r>
            <a:r>
              <a:rPr sz="2900" b="1" spc="-12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spc="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900" b="1" spc="-114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spc="6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revenue</a:t>
            </a:r>
            <a:r>
              <a:rPr sz="2900" b="1" spc="-14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spc="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loss</a:t>
            </a:r>
            <a:r>
              <a:rPr sz="2900" b="1" spc="-13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spc="5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due</a:t>
            </a:r>
            <a:r>
              <a:rPr sz="2900" b="1" spc="-12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to</a:t>
            </a:r>
            <a:r>
              <a:rPr sz="2900" b="1" spc="-1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spc="6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cancelled</a:t>
            </a:r>
            <a:r>
              <a:rPr sz="2900" b="1" spc="-10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or</a:t>
            </a:r>
            <a:r>
              <a:rPr sz="2900" b="1" spc="-18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spc="6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delayed</a:t>
            </a:r>
            <a:r>
              <a:rPr sz="2900" b="1" spc="-13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trips?</a:t>
            </a:r>
            <a:endParaRPr sz="2900">
              <a:latin typeface="Trebuchet MS" panose="020B0603020202020204"/>
              <a:cs typeface="Trebuchet MS" panose="020B0603020202020204"/>
            </a:endParaRPr>
          </a:p>
          <a:p>
            <a:pPr marL="459105" indent="-443865">
              <a:lnSpc>
                <a:spcPct val="100000"/>
              </a:lnSpc>
              <a:spcBef>
                <a:spcPts val="550"/>
              </a:spcBef>
              <a:buAutoNum type="arabicPlain" startAt="3"/>
              <a:tabLst>
                <a:tab pos="459105" algn="l"/>
              </a:tabLst>
            </a:pP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Is</a:t>
            </a:r>
            <a:r>
              <a:rPr sz="2900" b="1" spc="2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there</a:t>
            </a:r>
            <a:r>
              <a:rPr sz="2900" b="1" spc="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a</a:t>
            </a:r>
            <a:r>
              <a:rPr sz="2900" b="1" spc="2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seasonal</a:t>
            </a:r>
            <a:r>
              <a:rPr sz="2900" b="1" spc="-4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or</a:t>
            </a:r>
            <a:r>
              <a:rPr sz="2900" b="1" spc="-2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monthly</a:t>
            </a:r>
            <a:r>
              <a:rPr sz="2900" b="1" spc="-4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trend</a:t>
            </a:r>
            <a:r>
              <a:rPr sz="2900" b="1" spc="3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delays,</a:t>
            </a:r>
            <a:r>
              <a:rPr sz="2900" b="1" spc="3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or</a:t>
            </a:r>
            <a:r>
              <a:rPr sz="2900" b="1" spc="-2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cancellations?</a:t>
            </a:r>
            <a:endParaRPr sz="290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§</a:t>
            </a:r>
            <a:r>
              <a:rPr sz="2900" b="1" spc="12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Operational</a:t>
            </a:r>
            <a:r>
              <a:rPr sz="2900" b="1" spc="3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Efficiency</a:t>
            </a:r>
            <a:endParaRPr sz="2900">
              <a:latin typeface="Trebuchet MS" panose="020B0603020202020204"/>
              <a:cs typeface="Trebuchet MS" panose="020B0603020202020204"/>
            </a:endParaRPr>
          </a:p>
          <a:p>
            <a:pPr marL="469265" indent="-456565">
              <a:lnSpc>
                <a:spcPct val="100000"/>
              </a:lnSpc>
              <a:spcBef>
                <a:spcPts val="575"/>
              </a:spcBef>
              <a:buAutoNum type="arabicPlain" startAt="6"/>
              <a:tabLst>
                <a:tab pos="469265" algn="l"/>
              </a:tabLst>
            </a:pP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Are</a:t>
            </a:r>
            <a:r>
              <a:rPr sz="2900" b="1" spc="1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certain</a:t>
            </a:r>
            <a:r>
              <a:rPr sz="2900" b="1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time</a:t>
            </a:r>
            <a:r>
              <a:rPr sz="2900" b="1" spc="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periods</a:t>
            </a:r>
            <a:r>
              <a:rPr sz="2900" b="1" spc="-1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(days of</a:t>
            </a:r>
            <a:r>
              <a:rPr sz="2900" b="1" spc="-7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900" b="1" spc="-8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week,</a:t>
            </a:r>
            <a:r>
              <a:rPr sz="2900" b="1" spc="-1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months)</a:t>
            </a:r>
            <a:r>
              <a:rPr sz="2900" b="1" spc="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more</a:t>
            </a:r>
            <a:r>
              <a:rPr sz="2900" b="1" spc="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prone</a:t>
            </a:r>
            <a:r>
              <a:rPr sz="2900" b="1" spc="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to</a:t>
            </a:r>
            <a:r>
              <a:rPr sz="2900" b="1" spc="-2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delays or</a:t>
            </a:r>
            <a:r>
              <a:rPr sz="2900" b="1" spc="-7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cancellations?</a:t>
            </a:r>
            <a:endParaRPr sz="2900">
              <a:latin typeface="Trebuchet MS" panose="020B0603020202020204"/>
              <a:cs typeface="Trebuchet MS" panose="020B0603020202020204"/>
            </a:endParaRPr>
          </a:p>
          <a:p>
            <a:pPr marL="441325" indent="-428625">
              <a:lnSpc>
                <a:spcPct val="100000"/>
              </a:lnSpc>
              <a:spcBef>
                <a:spcPts val="580"/>
              </a:spcBef>
              <a:buAutoNum type="arabicPlain" startAt="6"/>
              <a:tabLst>
                <a:tab pos="441325" algn="l"/>
              </a:tabLst>
            </a:pP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What</a:t>
            </a:r>
            <a:r>
              <a:rPr sz="2900" b="1" spc="-1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are the average</a:t>
            </a:r>
            <a:r>
              <a:rPr sz="2900" b="1" spc="-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delay</a:t>
            </a:r>
            <a:r>
              <a:rPr sz="2900" b="1" spc="-9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durations</a:t>
            </a:r>
            <a:r>
              <a:rPr sz="2900" b="1" spc="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per</a:t>
            </a:r>
            <a:r>
              <a:rPr sz="2900" b="1" spc="-8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route</a:t>
            </a:r>
            <a:r>
              <a:rPr sz="2900" b="1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or</a:t>
            </a:r>
            <a:r>
              <a:rPr sz="2900" b="1" spc="-7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trip</a:t>
            </a:r>
            <a:r>
              <a:rPr sz="2900" b="1" spc="-3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type?</a:t>
            </a:r>
            <a:endParaRPr sz="2900">
              <a:latin typeface="Trebuchet MS" panose="020B0603020202020204"/>
              <a:cs typeface="Trebuchet MS" panose="020B0603020202020204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§</a:t>
            </a:r>
            <a:r>
              <a:rPr sz="2900" b="1" spc="-13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spc="5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Comparative</a:t>
            </a:r>
            <a:r>
              <a:rPr sz="2900" b="1" spc="-8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spc="3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Questions</a:t>
            </a:r>
            <a:endParaRPr sz="2900">
              <a:latin typeface="Trebuchet MS" panose="020B0603020202020204"/>
              <a:cs typeface="Trebuchet MS" panose="020B0603020202020204"/>
            </a:endParaRPr>
          </a:p>
          <a:p>
            <a:pPr marL="12700" marR="5080" indent="466090">
              <a:lnSpc>
                <a:spcPct val="116000"/>
              </a:lnSpc>
              <a:spcBef>
                <a:spcPts val="25"/>
              </a:spcBef>
              <a:buAutoNum type="arabicPlain" startAt="8"/>
              <a:tabLst>
                <a:tab pos="478790" algn="l"/>
              </a:tabLst>
            </a:pP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How</a:t>
            </a:r>
            <a:r>
              <a:rPr sz="2900" b="1" spc="-3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do</a:t>
            </a:r>
            <a:r>
              <a:rPr sz="2900" b="1" spc="-4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high-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performing</a:t>
            </a:r>
            <a:r>
              <a:rPr sz="2900" b="1" spc="-1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Stations</a:t>
            </a:r>
            <a:r>
              <a:rPr sz="2900" b="1" spc="-3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differ</a:t>
            </a:r>
            <a:r>
              <a:rPr sz="2900" b="1" spc="-2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from</a:t>
            </a:r>
            <a:r>
              <a:rPr sz="2900" b="1" spc="-2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low-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performing</a:t>
            </a:r>
            <a:r>
              <a:rPr sz="2900" b="1" spc="-3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ones</a:t>
            </a:r>
            <a:r>
              <a:rPr sz="2900" b="1" spc="-3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in</a:t>
            </a:r>
            <a:r>
              <a:rPr sz="2900" b="1" spc="-4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terms</a:t>
            </a:r>
            <a:r>
              <a:rPr sz="2900" b="1" spc="-3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2900" b="1" spc="-1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trips,</a:t>
            </a:r>
            <a:r>
              <a:rPr sz="2900" b="1" spc="-4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revenue,</a:t>
            </a:r>
            <a:r>
              <a:rPr sz="2900" b="1" spc="-4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spc="-2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and </a:t>
            </a:r>
            <a:r>
              <a:rPr sz="2900" b="1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delays?</a:t>
            </a:r>
            <a:endParaRPr sz="2900">
              <a:latin typeface="Trebuchet MS" panose="020B0603020202020204"/>
              <a:cs typeface="Trebuchet MS" panose="020B0603020202020204"/>
            </a:endParaRPr>
          </a:p>
          <a:p>
            <a:pPr marL="462280" indent="-447040">
              <a:lnSpc>
                <a:spcPct val="100000"/>
              </a:lnSpc>
              <a:spcBef>
                <a:spcPts val="605"/>
              </a:spcBef>
              <a:buAutoNum type="arabicPlain" startAt="8"/>
              <a:tabLst>
                <a:tab pos="462280" algn="l"/>
              </a:tabLst>
            </a:pP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what is</a:t>
            </a:r>
            <a:r>
              <a:rPr sz="2900" b="1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the</a:t>
            </a:r>
            <a:r>
              <a:rPr sz="2900" b="1" spc="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trend</a:t>
            </a:r>
            <a:r>
              <a:rPr sz="2900" b="1" spc="-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of</a:t>
            </a:r>
            <a:r>
              <a:rPr sz="2900" b="1" spc="-7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trip</a:t>
            </a:r>
            <a:r>
              <a:rPr sz="2900" b="1" spc="-1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volume and performance</a:t>
            </a:r>
            <a:r>
              <a:rPr sz="2900" b="1" spc="1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over</a:t>
            </a:r>
            <a:r>
              <a:rPr sz="2900" b="1" spc="-6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time — is</a:t>
            </a:r>
            <a:r>
              <a:rPr sz="2900" b="1" spc="-15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it improving</a:t>
            </a:r>
            <a:r>
              <a:rPr sz="2900" b="1" spc="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or</a:t>
            </a:r>
            <a:r>
              <a:rPr sz="2900" b="1" spc="-7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900" b="1" spc="-10" dirty="0">
                <a:solidFill>
                  <a:srgbClr val="1F9266"/>
                </a:solidFill>
                <a:latin typeface="Trebuchet MS" panose="020B0603020202020204"/>
                <a:cs typeface="Trebuchet MS" panose="020B0603020202020204"/>
              </a:rPr>
              <a:t>declining?</a:t>
            </a:r>
            <a:endParaRPr sz="29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188814" y="3143250"/>
            <a:ext cx="1099185" cy="4665345"/>
          </a:xfrm>
          <a:custGeom>
            <a:avLst/>
            <a:gdLst/>
            <a:ahLst/>
            <a:cxnLst/>
            <a:rect l="l" t="t" r="r" b="b"/>
            <a:pathLst>
              <a:path w="1099184" h="4665345">
                <a:moveTo>
                  <a:pt x="1098575" y="0"/>
                </a:moveTo>
                <a:lnTo>
                  <a:pt x="0" y="0"/>
                </a:lnTo>
                <a:lnTo>
                  <a:pt x="0" y="4665218"/>
                </a:lnTo>
                <a:lnTo>
                  <a:pt x="1098575" y="4665218"/>
                </a:lnTo>
                <a:lnTo>
                  <a:pt x="1098575" y="0"/>
                </a:lnTo>
                <a:close/>
              </a:path>
            </a:pathLst>
          </a:custGeom>
          <a:solidFill>
            <a:srgbClr val="1F926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28420" cy="13735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C7ED07-4D08-AA88-1EB9-3B81779D1D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36" t="8322"/>
          <a:stretch>
            <a:fillRect/>
          </a:stretch>
        </p:blipFill>
        <p:spPr>
          <a:xfrm>
            <a:off x="0" y="0"/>
            <a:ext cx="1371600" cy="13792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0200" y="2886075"/>
            <a:ext cx="17646650" cy="6153150"/>
            <a:chOff x="330200" y="2886075"/>
            <a:chExt cx="17646650" cy="61531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0200" y="2886075"/>
              <a:ext cx="8810625" cy="615315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79691" y="2886075"/>
              <a:ext cx="11296650" cy="615315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7696250" y="1561795"/>
            <a:ext cx="1748789" cy="11709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500" b="1" spc="135" dirty="0">
                <a:solidFill>
                  <a:srgbClr val="306BA6"/>
                </a:solidFill>
                <a:latin typeface="Trebuchet MS" panose="020B0603020202020204"/>
                <a:cs typeface="Trebuchet MS" panose="020B0603020202020204"/>
              </a:rPr>
              <a:t>ETL</a:t>
            </a:r>
            <a:endParaRPr sz="750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328420" cy="13735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16FC988-DF59-4AF4-DC2F-F8956481FDE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736" t="8322"/>
          <a:stretch>
            <a:fillRect/>
          </a:stretch>
        </p:blipFill>
        <p:spPr>
          <a:xfrm>
            <a:off x="0" y="0"/>
            <a:ext cx="1371600" cy="13792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9020" y="2466975"/>
            <a:ext cx="13542010" cy="75317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60268" y="419048"/>
            <a:ext cx="11859005" cy="3853941"/>
          </a:xfrm>
          <a:prstGeom prst="rect">
            <a:avLst/>
          </a:prstGeom>
        </p:spPr>
        <p:txBody>
          <a:bodyPr vert="horz" wrap="square" lIns="0" tIns="773938" rIns="0" bIns="0" rtlCol="0">
            <a:spAutoFit/>
          </a:bodyPr>
          <a:lstStyle/>
          <a:p>
            <a:pPr marL="829310">
              <a:lnSpc>
                <a:spcPct val="100000"/>
              </a:lnSpc>
              <a:spcBef>
                <a:spcPts val="115"/>
              </a:spcBef>
            </a:pPr>
            <a:r>
              <a:rPr spc="150" dirty="0"/>
              <a:t>Data</a:t>
            </a:r>
            <a:r>
              <a:rPr spc="-275" dirty="0"/>
              <a:t> </a:t>
            </a:r>
            <a:r>
              <a:rPr spc="125" dirty="0"/>
              <a:t>Cleaning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28420" cy="13735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5AF16FE-D7E9-857F-EE81-08C25D0615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36" t="8322"/>
          <a:stretch>
            <a:fillRect/>
          </a:stretch>
        </p:blipFill>
        <p:spPr>
          <a:xfrm>
            <a:off x="0" y="0"/>
            <a:ext cx="1371600" cy="137925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56535" y="3298190"/>
            <a:ext cx="11830050" cy="621385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6126" y="800303"/>
            <a:ext cx="6932295" cy="233553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ts val="9170"/>
              </a:lnSpc>
              <a:spcBef>
                <a:spcPts val="75"/>
              </a:spcBef>
            </a:pPr>
            <a:r>
              <a:rPr spc="-20" dirty="0"/>
              <a:t>Normalization&amp; </a:t>
            </a:r>
            <a:r>
              <a:rPr spc="150" dirty="0"/>
              <a:t>Data</a:t>
            </a:r>
            <a:r>
              <a:rPr spc="114" dirty="0"/>
              <a:t> </a:t>
            </a:r>
            <a:r>
              <a:rPr spc="145" dirty="0"/>
              <a:t>Modeling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328420" cy="13735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D8F3F4F-DDB2-6DAE-868C-6BCF0C17C9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36" t="8322"/>
          <a:stretch>
            <a:fillRect/>
          </a:stretch>
        </p:blipFill>
        <p:spPr>
          <a:xfrm>
            <a:off x="0" y="0"/>
            <a:ext cx="1371600" cy="137925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00719" y="3586454"/>
            <a:ext cx="8947785" cy="567677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076996" y="952322"/>
            <a:ext cx="1986914" cy="11709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7500" b="1" spc="395" dirty="0">
                <a:solidFill>
                  <a:srgbClr val="306BA6"/>
                </a:solidFill>
                <a:latin typeface="Trebuchet MS" panose="020B0603020202020204"/>
                <a:cs typeface="Trebuchet MS" panose="020B0603020202020204"/>
              </a:rPr>
              <a:t>DAX</a:t>
            </a:r>
            <a:endParaRPr sz="750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20469" y="2581272"/>
            <a:ext cx="6515100" cy="7696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328420" cy="13735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61BAE8-FCFA-8D6A-50F7-FCCC9458FEB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736" t="8322"/>
          <a:stretch>
            <a:fillRect/>
          </a:stretch>
        </p:blipFill>
        <p:spPr>
          <a:xfrm>
            <a:off x="0" y="0"/>
            <a:ext cx="1371600" cy="137925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81186" y="2705100"/>
            <a:ext cx="13125628" cy="7238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91897" y="686752"/>
            <a:ext cx="5704205" cy="175958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-10" dirty="0"/>
              <a:t>Visualization</a:t>
            </a:r>
          </a:p>
          <a:p>
            <a:pPr marL="194945" algn="ctr">
              <a:lnSpc>
                <a:spcPct val="100000"/>
              </a:lnSpc>
              <a:spcBef>
                <a:spcPts val="75"/>
              </a:spcBef>
            </a:pPr>
            <a:r>
              <a:rPr lang="en-US" sz="3800" spc="-10" dirty="0">
                <a:solidFill>
                  <a:srgbClr val="1F9266"/>
                </a:solidFill>
              </a:rPr>
              <a:t>Revenues</a:t>
            </a:r>
            <a:endParaRPr sz="3800" dirty="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10610" y="9525"/>
            <a:ext cx="1916430" cy="16845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328420" cy="13735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46BC57-85E5-D9F8-9763-EDF51D7747F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736" t="8322"/>
          <a:stretch>
            <a:fillRect/>
          </a:stretch>
        </p:blipFill>
        <p:spPr>
          <a:xfrm>
            <a:off x="0" y="0"/>
            <a:ext cx="1371600" cy="137925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13210" y="2552700"/>
            <a:ext cx="13261578" cy="745871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10610" y="9525"/>
            <a:ext cx="1916430" cy="16845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328420" cy="1373505"/>
          </a:xfrm>
          <a:prstGeom prst="rect">
            <a:avLst/>
          </a:prstGeom>
        </p:spPr>
      </p:pic>
      <p:sp>
        <p:nvSpPr>
          <p:cNvPr id="8" name="object 3">
            <a:extLst>
              <a:ext uri="{FF2B5EF4-FFF2-40B4-BE49-F238E27FC236}">
                <a16:creationId xmlns:a16="http://schemas.microsoft.com/office/drawing/2014/main" id="{388F03EF-F69A-F0E1-0A73-9DA91EF88D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91897" y="495300"/>
            <a:ext cx="5704205" cy="175958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-10" dirty="0"/>
              <a:t>Visualization</a:t>
            </a:r>
          </a:p>
          <a:p>
            <a:pPr marL="194945" algn="ctr">
              <a:lnSpc>
                <a:spcPct val="100000"/>
              </a:lnSpc>
              <a:spcBef>
                <a:spcPts val="75"/>
              </a:spcBef>
            </a:pPr>
            <a:r>
              <a:rPr lang="en-US" sz="3800" spc="-10" dirty="0">
                <a:solidFill>
                  <a:srgbClr val="1F9266"/>
                </a:solidFill>
              </a:rPr>
              <a:t>Tickets</a:t>
            </a:r>
            <a:endParaRPr sz="3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D0804F-8C00-C21F-FCEC-A646BA0D508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736" t="8322"/>
          <a:stretch>
            <a:fillRect/>
          </a:stretch>
        </p:blipFill>
        <p:spPr>
          <a:xfrm>
            <a:off x="0" y="0"/>
            <a:ext cx="1371600" cy="137925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26885" y="2781300"/>
            <a:ext cx="12834229" cy="706880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10610" y="9525"/>
            <a:ext cx="1916430" cy="16845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328420" cy="1373505"/>
          </a:xfrm>
          <a:prstGeom prst="rect">
            <a:avLst/>
          </a:prstGeom>
        </p:spPr>
      </p:pic>
      <p:sp>
        <p:nvSpPr>
          <p:cNvPr id="8" name="object 3">
            <a:extLst>
              <a:ext uri="{FF2B5EF4-FFF2-40B4-BE49-F238E27FC236}">
                <a16:creationId xmlns:a16="http://schemas.microsoft.com/office/drawing/2014/main" id="{BF59F9AF-B91A-7EAB-046A-A1872D2C04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91897" y="686752"/>
            <a:ext cx="5704205" cy="175958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-10" dirty="0"/>
              <a:t>Visualization</a:t>
            </a:r>
          </a:p>
          <a:p>
            <a:pPr marL="194945" algn="ctr">
              <a:lnSpc>
                <a:spcPct val="100000"/>
              </a:lnSpc>
              <a:spcBef>
                <a:spcPts val="75"/>
              </a:spcBef>
            </a:pPr>
            <a:r>
              <a:rPr lang="en-US" sz="3800" spc="-10" dirty="0">
                <a:solidFill>
                  <a:srgbClr val="1F9266"/>
                </a:solidFill>
              </a:rPr>
              <a:t>On Time Trips</a:t>
            </a:r>
            <a:endParaRPr sz="3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721BA84-D9CA-B66D-2609-4DD99A34E1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736" t="8322"/>
          <a:stretch>
            <a:fillRect/>
          </a:stretch>
        </p:blipFill>
        <p:spPr>
          <a:xfrm>
            <a:off x="0" y="0"/>
            <a:ext cx="1371600" cy="137925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98347" y="2857500"/>
            <a:ext cx="12891306" cy="71628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10610" y="9525"/>
            <a:ext cx="1916430" cy="16845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328420" cy="1373505"/>
          </a:xfrm>
          <a:prstGeom prst="rect">
            <a:avLst/>
          </a:prstGeom>
        </p:spPr>
      </p:pic>
      <p:sp>
        <p:nvSpPr>
          <p:cNvPr id="8" name="object 3">
            <a:extLst>
              <a:ext uri="{FF2B5EF4-FFF2-40B4-BE49-F238E27FC236}">
                <a16:creationId xmlns:a16="http://schemas.microsoft.com/office/drawing/2014/main" id="{6585D29D-B8DD-AEB0-F6DD-845D096CE9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91897" y="686752"/>
            <a:ext cx="5704205" cy="175958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-10" dirty="0"/>
              <a:t>Visualization</a:t>
            </a:r>
          </a:p>
          <a:p>
            <a:pPr marL="194945" algn="ctr">
              <a:lnSpc>
                <a:spcPct val="100000"/>
              </a:lnSpc>
              <a:spcBef>
                <a:spcPts val="75"/>
              </a:spcBef>
            </a:pPr>
            <a:r>
              <a:rPr lang="en-US" sz="3800" spc="-10" dirty="0">
                <a:solidFill>
                  <a:srgbClr val="1F9266"/>
                </a:solidFill>
              </a:rPr>
              <a:t>Delayed Trips</a:t>
            </a:r>
            <a:endParaRPr sz="3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F3A5CE4-7561-C62E-19B5-4ABE1136AF4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736" t="8322"/>
          <a:stretch>
            <a:fillRect/>
          </a:stretch>
        </p:blipFill>
        <p:spPr>
          <a:xfrm>
            <a:off x="0" y="0"/>
            <a:ext cx="1371600" cy="137925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44F17-4855-03DF-BA90-78B2C6293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B3FD2311-90C3-6EDD-0A48-ACA344CE27A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08213" y="2857500"/>
            <a:ext cx="12871571" cy="7162800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68DD7978-8077-98BA-7B11-BEA175B6A29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10610" y="9525"/>
            <a:ext cx="1916430" cy="16845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613353-4A8B-C0F3-B5FD-A5608CE854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328420" cy="1373505"/>
          </a:xfrm>
          <a:prstGeom prst="rect">
            <a:avLst/>
          </a:prstGeom>
        </p:spPr>
      </p:pic>
      <p:sp>
        <p:nvSpPr>
          <p:cNvPr id="8" name="object 3">
            <a:extLst>
              <a:ext uri="{FF2B5EF4-FFF2-40B4-BE49-F238E27FC236}">
                <a16:creationId xmlns:a16="http://schemas.microsoft.com/office/drawing/2014/main" id="{6FE5298B-477A-7615-0518-E0E2F4B891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91897" y="686752"/>
            <a:ext cx="5704205" cy="175958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-10" dirty="0"/>
              <a:t>Visualization</a:t>
            </a:r>
          </a:p>
          <a:p>
            <a:pPr marL="194945" algn="ctr">
              <a:lnSpc>
                <a:spcPct val="100000"/>
              </a:lnSpc>
              <a:spcBef>
                <a:spcPts val="75"/>
              </a:spcBef>
            </a:pPr>
            <a:r>
              <a:rPr lang="en-US" sz="3800" spc="-10" dirty="0">
                <a:solidFill>
                  <a:srgbClr val="1F9266"/>
                </a:solidFill>
              </a:rPr>
              <a:t>Cancelled Trips</a:t>
            </a:r>
            <a:endParaRPr sz="3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DDE588-6AF5-F83F-A1C4-BB8F75974BA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736" t="8322"/>
          <a:stretch>
            <a:fillRect/>
          </a:stretch>
        </p:blipFill>
        <p:spPr>
          <a:xfrm>
            <a:off x="0" y="0"/>
            <a:ext cx="1371600" cy="1379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3847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8293100"/>
            <a:ext cx="2142490" cy="1193165"/>
          </a:xfrm>
          <a:custGeom>
            <a:avLst/>
            <a:gdLst/>
            <a:ahLst/>
            <a:cxnLst/>
            <a:rect l="l" t="t" r="r" b="b"/>
            <a:pathLst>
              <a:path w="2142490" h="1193165">
                <a:moveTo>
                  <a:pt x="2142363" y="0"/>
                </a:moveTo>
                <a:lnTo>
                  <a:pt x="0" y="0"/>
                </a:lnTo>
                <a:lnTo>
                  <a:pt x="0" y="1193050"/>
                </a:lnTo>
                <a:lnTo>
                  <a:pt x="2142363" y="1193050"/>
                </a:lnTo>
                <a:lnTo>
                  <a:pt x="2142363" y="0"/>
                </a:lnTo>
                <a:close/>
              </a:path>
            </a:pathLst>
          </a:custGeom>
          <a:solidFill>
            <a:srgbClr val="306B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67454" y="571448"/>
            <a:ext cx="8549005" cy="23323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ts val="9150"/>
              </a:lnSpc>
              <a:spcBef>
                <a:spcPts val="95"/>
              </a:spcBef>
            </a:pPr>
            <a:r>
              <a:rPr spc="135" dirty="0"/>
              <a:t>Conclusion&amp; </a:t>
            </a:r>
            <a:r>
              <a:rPr spc="150" dirty="0"/>
              <a:t>Recommendations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1156970">
              <a:lnSpc>
                <a:spcPts val="4180"/>
              </a:lnSpc>
              <a:spcBef>
                <a:spcPts val="260"/>
              </a:spcBef>
            </a:pPr>
            <a:r>
              <a:rPr dirty="0"/>
              <a:t>Priority</a:t>
            </a:r>
            <a:r>
              <a:rPr spc="-55" dirty="0"/>
              <a:t> </a:t>
            </a:r>
            <a:r>
              <a:rPr dirty="0"/>
              <a:t>Actions:</a:t>
            </a:r>
            <a:r>
              <a:rPr spc="-35" dirty="0"/>
              <a:t> </a:t>
            </a:r>
            <a:r>
              <a:rPr dirty="0"/>
              <a:t>Resolve</a:t>
            </a:r>
            <a:r>
              <a:rPr spc="-40" dirty="0"/>
              <a:t> </a:t>
            </a:r>
            <a:r>
              <a:rPr dirty="0"/>
              <a:t>signal</a:t>
            </a:r>
            <a:r>
              <a:rPr spc="-40" dirty="0"/>
              <a:t> </a:t>
            </a:r>
            <a:r>
              <a:rPr dirty="0"/>
              <a:t>failures</a:t>
            </a:r>
            <a:r>
              <a:rPr spc="-70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spc="-10" dirty="0"/>
              <a:t>staff </a:t>
            </a:r>
            <a:r>
              <a:rPr dirty="0"/>
              <a:t>shortages</a:t>
            </a:r>
            <a:r>
              <a:rPr spc="145" dirty="0"/>
              <a:t> </a:t>
            </a:r>
            <a:r>
              <a:rPr dirty="0"/>
              <a:t>to</a:t>
            </a:r>
            <a:r>
              <a:rPr spc="150" dirty="0"/>
              <a:t> </a:t>
            </a:r>
            <a:r>
              <a:rPr dirty="0"/>
              <a:t>cut</a:t>
            </a:r>
            <a:r>
              <a:rPr spc="135" dirty="0"/>
              <a:t> </a:t>
            </a:r>
            <a:r>
              <a:rPr dirty="0"/>
              <a:t>cancellations</a:t>
            </a:r>
            <a:r>
              <a:rPr spc="140" dirty="0"/>
              <a:t> </a:t>
            </a:r>
            <a:r>
              <a:rPr dirty="0"/>
              <a:t>by</a:t>
            </a:r>
            <a:r>
              <a:rPr spc="-25" dirty="0"/>
              <a:t> </a:t>
            </a:r>
            <a:r>
              <a:rPr dirty="0"/>
              <a:t>30%</a:t>
            </a:r>
            <a:r>
              <a:rPr spc="125" dirty="0"/>
              <a:t> </a:t>
            </a:r>
            <a:r>
              <a:rPr dirty="0"/>
              <a:t>in</a:t>
            </a:r>
            <a:r>
              <a:rPr spc="114" dirty="0"/>
              <a:t> </a:t>
            </a:r>
            <a:r>
              <a:rPr dirty="0"/>
              <a:t>6</a:t>
            </a:r>
            <a:r>
              <a:rPr spc="125" dirty="0"/>
              <a:t> </a:t>
            </a:r>
            <a:r>
              <a:rPr spc="-10" dirty="0"/>
              <a:t>months.</a:t>
            </a: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pc="-10" dirty="0"/>
          </a:p>
          <a:p>
            <a:pPr marL="12700" marR="5080">
              <a:lnSpc>
                <a:spcPts val="4180"/>
              </a:lnSpc>
              <a:spcBef>
                <a:spcPts val="5"/>
              </a:spcBef>
            </a:pPr>
            <a:r>
              <a:rPr dirty="0"/>
              <a:t>Quick</a:t>
            </a:r>
            <a:r>
              <a:rPr spc="-110" dirty="0"/>
              <a:t> </a:t>
            </a:r>
            <a:r>
              <a:rPr dirty="0"/>
              <a:t>Wins:</a:t>
            </a:r>
            <a:r>
              <a:rPr spc="-45" dirty="0"/>
              <a:t> </a:t>
            </a:r>
            <a:r>
              <a:rPr dirty="0"/>
              <a:t>Introduce</a:t>
            </a:r>
            <a:r>
              <a:rPr spc="-45" dirty="0"/>
              <a:t> </a:t>
            </a:r>
            <a:r>
              <a:rPr dirty="0"/>
              <a:t>flexible</a:t>
            </a:r>
            <a:r>
              <a:rPr spc="-45" dirty="0"/>
              <a:t> </a:t>
            </a:r>
            <a:r>
              <a:rPr dirty="0"/>
              <a:t>pricing</a:t>
            </a:r>
            <a:r>
              <a:rPr spc="-50" dirty="0"/>
              <a:t> </a:t>
            </a:r>
            <a:r>
              <a:rPr dirty="0"/>
              <a:t>for</a:t>
            </a:r>
            <a:r>
              <a:rPr spc="-50" dirty="0"/>
              <a:t> </a:t>
            </a:r>
            <a:r>
              <a:rPr dirty="0"/>
              <a:t>off-peak</a:t>
            </a:r>
            <a:r>
              <a:rPr spc="-75" dirty="0"/>
              <a:t> </a:t>
            </a:r>
            <a:r>
              <a:rPr spc="-10" dirty="0"/>
              <a:t>travel </a:t>
            </a:r>
            <a:r>
              <a:rPr spc="75" dirty="0"/>
              <a:t>and</a:t>
            </a:r>
            <a:r>
              <a:rPr spc="-204" dirty="0"/>
              <a:t> </a:t>
            </a:r>
            <a:r>
              <a:rPr spc="70" dirty="0"/>
              <a:t>improve</a:t>
            </a:r>
            <a:r>
              <a:rPr spc="-270" dirty="0"/>
              <a:t> </a:t>
            </a:r>
            <a:r>
              <a:rPr spc="65" dirty="0"/>
              <a:t>weather-</a:t>
            </a:r>
            <a:r>
              <a:rPr spc="60" dirty="0"/>
              <a:t>related</a:t>
            </a:r>
            <a:r>
              <a:rPr spc="-185" dirty="0"/>
              <a:t> </a:t>
            </a:r>
            <a:r>
              <a:rPr spc="65" dirty="0"/>
              <a:t>contingency</a:t>
            </a:r>
            <a:r>
              <a:rPr spc="-280" dirty="0"/>
              <a:t> </a:t>
            </a:r>
            <a:r>
              <a:rPr spc="50" dirty="0"/>
              <a:t>plans.</a:t>
            </a: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pc="50" dirty="0"/>
          </a:p>
          <a:p>
            <a:pPr marL="12700" marR="397510">
              <a:lnSpc>
                <a:spcPts val="4180"/>
              </a:lnSpc>
            </a:pPr>
            <a:r>
              <a:rPr spc="-10" dirty="0"/>
              <a:t>Long-</a:t>
            </a:r>
            <a:r>
              <a:rPr dirty="0"/>
              <a:t>Term</a:t>
            </a:r>
            <a:r>
              <a:rPr spc="-45" dirty="0"/>
              <a:t> </a:t>
            </a:r>
            <a:r>
              <a:rPr dirty="0"/>
              <a:t>Strategy:</a:t>
            </a:r>
            <a:r>
              <a:rPr spc="-55" dirty="0"/>
              <a:t> </a:t>
            </a:r>
            <a:r>
              <a:rPr dirty="0"/>
              <a:t>Invest</a:t>
            </a:r>
            <a:r>
              <a:rPr spc="-60" dirty="0"/>
              <a:t> </a:t>
            </a:r>
            <a:r>
              <a:rPr dirty="0"/>
              <a:t>in</a:t>
            </a:r>
            <a:r>
              <a:rPr spc="-40" dirty="0"/>
              <a:t> </a:t>
            </a:r>
            <a:r>
              <a:rPr dirty="0"/>
              <a:t>infrastructure</a:t>
            </a:r>
            <a:r>
              <a:rPr spc="-40" dirty="0"/>
              <a:t> </a:t>
            </a:r>
            <a:r>
              <a:rPr spc="-25" dirty="0"/>
              <a:t>and </a:t>
            </a:r>
            <a:r>
              <a:rPr dirty="0"/>
              <a:t>workforce</a:t>
            </a:r>
            <a:r>
              <a:rPr spc="-40" dirty="0"/>
              <a:t> </a:t>
            </a:r>
            <a:r>
              <a:rPr dirty="0"/>
              <a:t>stability</a:t>
            </a:r>
            <a:r>
              <a:rPr spc="-95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dirty="0"/>
              <a:t>boost</a:t>
            </a:r>
            <a:r>
              <a:rPr spc="-40" dirty="0"/>
              <a:t> </a:t>
            </a:r>
            <a:r>
              <a:rPr dirty="0"/>
              <a:t>punctuality</a:t>
            </a:r>
            <a:r>
              <a:rPr spc="-85" dirty="0"/>
              <a:t> </a:t>
            </a:r>
            <a:r>
              <a:rPr dirty="0"/>
              <a:t>beyond</a:t>
            </a:r>
            <a:r>
              <a:rPr spc="-35" dirty="0"/>
              <a:t> </a:t>
            </a:r>
            <a:r>
              <a:rPr spc="-10" dirty="0"/>
              <a:t>90.7%.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490" y="3577716"/>
            <a:ext cx="142240" cy="14224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490" y="5170804"/>
            <a:ext cx="142240" cy="14223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490" y="6770243"/>
            <a:ext cx="142240" cy="14223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10610" y="9525"/>
            <a:ext cx="1916430" cy="168452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007339" y="2088769"/>
            <a:ext cx="4916804" cy="493204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328420" cy="13735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AA51BC2-F9A0-58EC-99A7-D5CC4457085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736" t="8322"/>
          <a:stretch>
            <a:fillRect/>
          </a:stretch>
        </p:blipFill>
        <p:spPr>
          <a:xfrm>
            <a:off x="0" y="0"/>
            <a:ext cx="1371600" cy="137925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73674" y="2933700"/>
            <a:ext cx="4462145" cy="375462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10610" y="9525"/>
            <a:ext cx="1916430" cy="1684527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0" y="4796845"/>
            <a:ext cx="3086100" cy="5485130"/>
          </a:xfrm>
          <a:custGeom>
            <a:avLst/>
            <a:gdLst/>
            <a:ahLst/>
            <a:cxnLst/>
            <a:rect l="l" t="t" r="r" b="b"/>
            <a:pathLst>
              <a:path w="3086100" h="5485130">
                <a:moveTo>
                  <a:pt x="3086100" y="0"/>
                </a:moveTo>
                <a:lnTo>
                  <a:pt x="0" y="0"/>
                </a:lnTo>
                <a:lnTo>
                  <a:pt x="0" y="5485003"/>
                </a:lnTo>
                <a:lnTo>
                  <a:pt x="3086100" y="5485003"/>
                </a:lnTo>
                <a:lnTo>
                  <a:pt x="3086100" y="0"/>
                </a:lnTo>
                <a:close/>
              </a:path>
            </a:pathLst>
          </a:custGeom>
          <a:solidFill>
            <a:srgbClr val="1F92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436339" y="8290604"/>
            <a:ext cx="1828164" cy="1992630"/>
          </a:xfrm>
          <a:custGeom>
            <a:avLst/>
            <a:gdLst/>
            <a:ahLst/>
            <a:cxnLst/>
            <a:rect l="l" t="t" r="r" b="b"/>
            <a:pathLst>
              <a:path w="1828165" h="1992629">
                <a:moveTo>
                  <a:pt x="1828165" y="0"/>
                </a:moveTo>
                <a:lnTo>
                  <a:pt x="0" y="0"/>
                </a:lnTo>
                <a:lnTo>
                  <a:pt x="0" y="1992375"/>
                </a:lnTo>
                <a:lnTo>
                  <a:pt x="1828165" y="1992375"/>
                </a:lnTo>
                <a:lnTo>
                  <a:pt x="1828165" y="0"/>
                </a:lnTo>
                <a:close/>
              </a:path>
            </a:pathLst>
          </a:custGeom>
          <a:solidFill>
            <a:srgbClr val="1F92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Graphic 63"/>
          <p:cNvSpPr/>
          <p:nvPr/>
        </p:nvSpPr>
        <p:spPr>
          <a:xfrm>
            <a:off x="10067290" y="3332353"/>
            <a:ext cx="3343910" cy="3355975"/>
          </a:xfrm>
          <a:custGeom>
            <a:avLst/>
            <a:gdLst/>
            <a:ahLst/>
            <a:cxnLst/>
            <a:rect l="l" t="t" r="r" b="b"/>
            <a:pathLst>
              <a:path w="3343910" h="3355975">
                <a:moveTo>
                  <a:pt x="1891996" y="1284088"/>
                </a:moveTo>
                <a:lnTo>
                  <a:pt x="1894257" y="1291214"/>
                </a:lnTo>
                <a:lnTo>
                  <a:pt x="1895010" y="1298529"/>
                </a:lnTo>
                <a:lnTo>
                  <a:pt x="1894257" y="1306031"/>
                </a:lnTo>
                <a:lnTo>
                  <a:pt x="1823246" y="1355110"/>
                </a:lnTo>
                <a:lnTo>
                  <a:pt x="1776012" y="1375100"/>
                </a:lnTo>
                <a:lnTo>
                  <a:pt x="1729703" y="1395291"/>
                </a:lnTo>
                <a:lnTo>
                  <a:pt x="1684317" y="1415684"/>
                </a:lnTo>
                <a:lnTo>
                  <a:pt x="1639856" y="1436277"/>
                </a:lnTo>
                <a:lnTo>
                  <a:pt x="1596239" y="1456689"/>
                </a:lnTo>
                <a:lnTo>
                  <a:pt x="1553385" y="1476941"/>
                </a:lnTo>
                <a:lnTo>
                  <a:pt x="1511295" y="1497031"/>
                </a:lnTo>
                <a:lnTo>
                  <a:pt x="1469968" y="1516962"/>
                </a:lnTo>
                <a:lnTo>
                  <a:pt x="1429404" y="1536731"/>
                </a:lnTo>
                <a:lnTo>
                  <a:pt x="1415814" y="1594098"/>
                </a:lnTo>
                <a:lnTo>
                  <a:pt x="1401946" y="1650634"/>
                </a:lnTo>
                <a:lnTo>
                  <a:pt x="1387800" y="1706337"/>
                </a:lnTo>
                <a:lnTo>
                  <a:pt x="1373378" y="1761209"/>
                </a:lnTo>
                <a:lnTo>
                  <a:pt x="1358678" y="1815250"/>
                </a:lnTo>
                <a:lnTo>
                  <a:pt x="1343701" y="1868458"/>
                </a:lnTo>
                <a:lnTo>
                  <a:pt x="1328447" y="1920835"/>
                </a:lnTo>
                <a:lnTo>
                  <a:pt x="1312915" y="1972380"/>
                </a:lnTo>
                <a:lnTo>
                  <a:pt x="1297106" y="2023093"/>
                </a:lnTo>
                <a:lnTo>
                  <a:pt x="1281020" y="2072975"/>
                </a:lnTo>
                <a:lnTo>
                  <a:pt x="1264657" y="2122025"/>
                </a:lnTo>
                <a:lnTo>
                  <a:pt x="1248017" y="2170243"/>
                </a:lnTo>
                <a:lnTo>
                  <a:pt x="1231099" y="2217629"/>
                </a:lnTo>
                <a:lnTo>
                  <a:pt x="1213904" y="2264184"/>
                </a:lnTo>
                <a:lnTo>
                  <a:pt x="1196432" y="2309907"/>
                </a:lnTo>
                <a:lnTo>
                  <a:pt x="1178682" y="2354798"/>
                </a:lnTo>
                <a:lnTo>
                  <a:pt x="1160656" y="2398857"/>
                </a:lnTo>
                <a:lnTo>
                  <a:pt x="1142352" y="2442085"/>
                </a:lnTo>
                <a:lnTo>
                  <a:pt x="1123771" y="2484481"/>
                </a:lnTo>
                <a:lnTo>
                  <a:pt x="1104912" y="2526045"/>
                </a:lnTo>
                <a:lnTo>
                  <a:pt x="1085777" y="2566777"/>
                </a:lnTo>
                <a:lnTo>
                  <a:pt x="1066364" y="2606678"/>
                </a:lnTo>
                <a:lnTo>
                  <a:pt x="1046674" y="2645747"/>
                </a:lnTo>
                <a:lnTo>
                  <a:pt x="1018710" y="2699260"/>
                </a:lnTo>
                <a:lnTo>
                  <a:pt x="990405" y="2750805"/>
                </a:lnTo>
                <a:lnTo>
                  <a:pt x="961758" y="2800384"/>
                </a:lnTo>
                <a:lnTo>
                  <a:pt x="932770" y="2847995"/>
                </a:lnTo>
                <a:lnTo>
                  <a:pt x="903439" y="2893639"/>
                </a:lnTo>
                <a:lnTo>
                  <a:pt x="873767" y="2937315"/>
                </a:lnTo>
                <a:lnTo>
                  <a:pt x="843752" y="2979025"/>
                </a:lnTo>
                <a:lnTo>
                  <a:pt x="813396" y="3018767"/>
                </a:lnTo>
                <a:lnTo>
                  <a:pt x="782698" y="3056542"/>
                </a:lnTo>
                <a:lnTo>
                  <a:pt x="751659" y="3092350"/>
                </a:lnTo>
                <a:lnTo>
                  <a:pt x="720277" y="3126190"/>
                </a:lnTo>
                <a:lnTo>
                  <a:pt x="688554" y="3158064"/>
                </a:lnTo>
                <a:lnTo>
                  <a:pt x="646158" y="3197086"/>
                </a:lnTo>
                <a:lnTo>
                  <a:pt x="604023" y="3231780"/>
                </a:lnTo>
                <a:lnTo>
                  <a:pt x="562149" y="3262146"/>
                </a:lnTo>
                <a:lnTo>
                  <a:pt x="520535" y="3288183"/>
                </a:lnTo>
                <a:lnTo>
                  <a:pt x="479181" y="3309892"/>
                </a:lnTo>
                <a:lnTo>
                  <a:pt x="438088" y="3327274"/>
                </a:lnTo>
                <a:lnTo>
                  <a:pt x="397255" y="3340326"/>
                </a:lnTo>
                <a:lnTo>
                  <a:pt x="356683" y="3349051"/>
                </a:lnTo>
                <a:lnTo>
                  <a:pt x="316371" y="3353447"/>
                </a:lnTo>
                <a:lnTo>
                  <a:pt x="309339" y="3354787"/>
                </a:lnTo>
                <a:lnTo>
                  <a:pt x="302474" y="3355457"/>
                </a:lnTo>
                <a:lnTo>
                  <a:pt x="295777" y="3355457"/>
                </a:lnTo>
                <a:lnTo>
                  <a:pt x="244263" y="3351407"/>
                </a:lnTo>
                <a:lnTo>
                  <a:pt x="196704" y="3339258"/>
                </a:lnTo>
                <a:lnTo>
                  <a:pt x="153101" y="3319010"/>
                </a:lnTo>
                <a:lnTo>
                  <a:pt x="113453" y="3290664"/>
                </a:lnTo>
                <a:lnTo>
                  <a:pt x="79016" y="3255128"/>
                </a:lnTo>
                <a:lnTo>
                  <a:pt x="50543" y="3213314"/>
                </a:lnTo>
                <a:lnTo>
                  <a:pt x="28035" y="3165221"/>
                </a:lnTo>
                <a:lnTo>
                  <a:pt x="11492" y="3110850"/>
                </a:lnTo>
                <a:lnTo>
                  <a:pt x="3696" y="3066650"/>
                </a:lnTo>
                <a:lnTo>
                  <a:pt x="0" y="3019638"/>
                </a:lnTo>
                <a:lnTo>
                  <a:pt x="401" y="2969813"/>
                </a:lnTo>
                <a:lnTo>
                  <a:pt x="4902" y="2917175"/>
                </a:lnTo>
                <a:lnTo>
                  <a:pt x="13501" y="2861724"/>
                </a:lnTo>
                <a:lnTo>
                  <a:pt x="22501" y="2820742"/>
                </a:lnTo>
                <a:lnTo>
                  <a:pt x="34002" y="2778736"/>
                </a:lnTo>
                <a:lnTo>
                  <a:pt x="48004" y="2735705"/>
                </a:lnTo>
                <a:lnTo>
                  <a:pt x="64507" y="2691648"/>
                </a:lnTo>
                <a:lnTo>
                  <a:pt x="83511" y="2646567"/>
                </a:lnTo>
                <a:lnTo>
                  <a:pt x="105016" y="2600460"/>
                </a:lnTo>
                <a:lnTo>
                  <a:pt x="129023" y="2553329"/>
                </a:lnTo>
                <a:lnTo>
                  <a:pt x="152245" y="2511428"/>
                </a:lnTo>
                <a:lnTo>
                  <a:pt x="177712" y="2469104"/>
                </a:lnTo>
                <a:lnTo>
                  <a:pt x="205423" y="2426356"/>
                </a:lnTo>
                <a:lnTo>
                  <a:pt x="235379" y="2383184"/>
                </a:lnTo>
                <a:lnTo>
                  <a:pt x="267579" y="2339589"/>
                </a:lnTo>
                <a:lnTo>
                  <a:pt x="302024" y="2295569"/>
                </a:lnTo>
                <a:lnTo>
                  <a:pt x="338714" y="2251126"/>
                </a:lnTo>
                <a:lnTo>
                  <a:pt x="377648" y="2206259"/>
                </a:lnTo>
                <a:lnTo>
                  <a:pt x="407556" y="2173533"/>
                </a:lnTo>
                <a:lnTo>
                  <a:pt x="438833" y="2140740"/>
                </a:lnTo>
                <a:lnTo>
                  <a:pt x="471481" y="2107880"/>
                </a:lnTo>
                <a:lnTo>
                  <a:pt x="505498" y="2074954"/>
                </a:lnTo>
                <a:lnTo>
                  <a:pt x="540886" y="2041962"/>
                </a:lnTo>
                <a:lnTo>
                  <a:pt x="577643" y="2008904"/>
                </a:lnTo>
                <a:lnTo>
                  <a:pt x="615770" y="1975779"/>
                </a:lnTo>
                <a:lnTo>
                  <a:pt x="655267" y="1942587"/>
                </a:lnTo>
                <a:lnTo>
                  <a:pt x="696133" y="1909329"/>
                </a:lnTo>
                <a:lnTo>
                  <a:pt x="738370" y="1876005"/>
                </a:lnTo>
                <a:lnTo>
                  <a:pt x="781976" y="1842614"/>
                </a:lnTo>
                <a:lnTo>
                  <a:pt x="820068" y="1814312"/>
                </a:lnTo>
                <a:lnTo>
                  <a:pt x="859237" y="1786122"/>
                </a:lnTo>
                <a:lnTo>
                  <a:pt x="899481" y="1758046"/>
                </a:lnTo>
                <a:lnTo>
                  <a:pt x="940801" y="1730082"/>
                </a:lnTo>
                <a:lnTo>
                  <a:pt x="983197" y="1702231"/>
                </a:lnTo>
                <a:lnTo>
                  <a:pt x="1026668" y="1674493"/>
                </a:lnTo>
                <a:lnTo>
                  <a:pt x="1071216" y="1646868"/>
                </a:lnTo>
                <a:lnTo>
                  <a:pt x="1116840" y="1619356"/>
                </a:lnTo>
                <a:lnTo>
                  <a:pt x="1163539" y="1591957"/>
                </a:lnTo>
                <a:lnTo>
                  <a:pt x="1211314" y="1564671"/>
                </a:lnTo>
                <a:lnTo>
                  <a:pt x="1260165" y="1537498"/>
                </a:lnTo>
                <a:lnTo>
                  <a:pt x="1310092" y="1510438"/>
                </a:lnTo>
                <a:lnTo>
                  <a:pt x="1361095" y="1483490"/>
                </a:lnTo>
                <a:lnTo>
                  <a:pt x="1371459" y="1437326"/>
                </a:lnTo>
                <a:lnTo>
                  <a:pt x="1381622" y="1390748"/>
                </a:lnTo>
                <a:lnTo>
                  <a:pt x="1391585" y="1343757"/>
                </a:lnTo>
                <a:lnTo>
                  <a:pt x="1401347" y="1296352"/>
                </a:lnTo>
                <a:lnTo>
                  <a:pt x="1410908" y="1248534"/>
                </a:lnTo>
                <a:lnTo>
                  <a:pt x="1420269" y="1200303"/>
                </a:lnTo>
                <a:lnTo>
                  <a:pt x="1429429" y="1151659"/>
                </a:lnTo>
                <a:lnTo>
                  <a:pt x="1438389" y="1102601"/>
                </a:lnTo>
                <a:lnTo>
                  <a:pt x="1447148" y="1053130"/>
                </a:lnTo>
                <a:lnTo>
                  <a:pt x="1455707" y="1003245"/>
                </a:lnTo>
                <a:lnTo>
                  <a:pt x="1464065" y="952948"/>
                </a:lnTo>
                <a:lnTo>
                  <a:pt x="1472223" y="902236"/>
                </a:lnTo>
                <a:lnTo>
                  <a:pt x="1480180" y="851112"/>
                </a:lnTo>
                <a:lnTo>
                  <a:pt x="1487936" y="799574"/>
                </a:lnTo>
                <a:lnTo>
                  <a:pt x="1495492" y="747623"/>
                </a:lnTo>
                <a:lnTo>
                  <a:pt x="1502847" y="695259"/>
                </a:lnTo>
                <a:lnTo>
                  <a:pt x="1510002" y="642481"/>
                </a:lnTo>
                <a:lnTo>
                  <a:pt x="1516956" y="589290"/>
                </a:lnTo>
                <a:lnTo>
                  <a:pt x="1523710" y="535685"/>
                </a:lnTo>
                <a:lnTo>
                  <a:pt x="1530263" y="481668"/>
                </a:lnTo>
                <a:lnTo>
                  <a:pt x="1536616" y="427237"/>
                </a:lnTo>
                <a:lnTo>
                  <a:pt x="1542768" y="372392"/>
                </a:lnTo>
                <a:lnTo>
                  <a:pt x="1548719" y="317134"/>
                </a:lnTo>
                <a:lnTo>
                  <a:pt x="1554470" y="261463"/>
                </a:lnTo>
                <a:lnTo>
                  <a:pt x="1557452" y="232614"/>
                </a:lnTo>
                <a:lnTo>
                  <a:pt x="1559869" y="205837"/>
                </a:lnTo>
                <a:lnTo>
                  <a:pt x="1561721" y="181131"/>
                </a:lnTo>
                <a:lnTo>
                  <a:pt x="1563008" y="158498"/>
                </a:lnTo>
                <a:lnTo>
                  <a:pt x="1554595" y="176579"/>
                </a:lnTo>
                <a:lnTo>
                  <a:pt x="1545931" y="195666"/>
                </a:lnTo>
                <a:lnTo>
                  <a:pt x="1537016" y="215757"/>
                </a:lnTo>
                <a:lnTo>
                  <a:pt x="1527849" y="236852"/>
                </a:lnTo>
                <a:lnTo>
                  <a:pt x="1518557" y="258450"/>
                </a:lnTo>
                <a:lnTo>
                  <a:pt x="1509265" y="280047"/>
                </a:lnTo>
                <a:lnTo>
                  <a:pt x="1499973" y="301645"/>
                </a:lnTo>
                <a:lnTo>
                  <a:pt x="1490681" y="323243"/>
                </a:lnTo>
                <a:lnTo>
                  <a:pt x="1473172" y="363145"/>
                </a:lnTo>
                <a:lnTo>
                  <a:pt x="1454797" y="404834"/>
                </a:lnTo>
                <a:lnTo>
                  <a:pt x="1435557" y="448308"/>
                </a:lnTo>
                <a:lnTo>
                  <a:pt x="1415452" y="493569"/>
                </a:lnTo>
                <a:lnTo>
                  <a:pt x="1394483" y="540615"/>
                </a:lnTo>
                <a:lnTo>
                  <a:pt x="1372648" y="589447"/>
                </a:lnTo>
                <a:lnTo>
                  <a:pt x="1353244" y="632201"/>
                </a:lnTo>
                <a:lnTo>
                  <a:pt x="1333204" y="675222"/>
                </a:lnTo>
                <a:lnTo>
                  <a:pt x="1312529" y="718510"/>
                </a:lnTo>
                <a:lnTo>
                  <a:pt x="1291218" y="762064"/>
                </a:lnTo>
                <a:lnTo>
                  <a:pt x="1269272" y="805885"/>
                </a:lnTo>
                <a:lnTo>
                  <a:pt x="1246690" y="849972"/>
                </a:lnTo>
                <a:lnTo>
                  <a:pt x="1223473" y="894326"/>
                </a:lnTo>
                <a:lnTo>
                  <a:pt x="1199661" y="938382"/>
                </a:lnTo>
                <a:lnTo>
                  <a:pt x="1175296" y="981864"/>
                </a:lnTo>
                <a:lnTo>
                  <a:pt x="1150377" y="1024773"/>
                </a:lnTo>
                <a:lnTo>
                  <a:pt x="1124905" y="1067107"/>
                </a:lnTo>
                <a:lnTo>
                  <a:pt x="1098879" y="1108867"/>
                </a:lnTo>
                <a:lnTo>
                  <a:pt x="1072300" y="1150054"/>
                </a:lnTo>
                <a:lnTo>
                  <a:pt x="1045167" y="1190666"/>
                </a:lnTo>
                <a:lnTo>
                  <a:pt x="1013035" y="1236442"/>
                </a:lnTo>
                <a:lnTo>
                  <a:pt x="980262" y="1280014"/>
                </a:lnTo>
                <a:lnTo>
                  <a:pt x="946847" y="1321382"/>
                </a:lnTo>
                <a:lnTo>
                  <a:pt x="912790" y="1360545"/>
                </a:lnTo>
                <a:lnTo>
                  <a:pt x="878092" y="1397504"/>
                </a:lnTo>
                <a:lnTo>
                  <a:pt x="842751" y="1432258"/>
                </a:lnTo>
                <a:lnTo>
                  <a:pt x="790394" y="1479367"/>
                </a:lnTo>
                <a:lnTo>
                  <a:pt x="740207" y="1520437"/>
                </a:lnTo>
                <a:lnTo>
                  <a:pt x="692190" y="1555471"/>
                </a:lnTo>
                <a:lnTo>
                  <a:pt x="646343" y="1584467"/>
                </a:lnTo>
                <a:lnTo>
                  <a:pt x="602665" y="1607426"/>
                </a:lnTo>
                <a:lnTo>
                  <a:pt x="561158" y="1624347"/>
                </a:lnTo>
                <a:lnTo>
                  <a:pt x="521820" y="1635231"/>
                </a:lnTo>
                <a:lnTo>
                  <a:pt x="484652" y="1640078"/>
                </a:lnTo>
                <a:lnTo>
                  <a:pt x="449653" y="1638888"/>
                </a:lnTo>
                <a:lnTo>
                  <a:pt x="398209" y="1624503"/>
                </a:lnTo>
                <a:lnTo>
                  <a:pt x="359283" y="1598887"/>
                </a:lnTo>
                <a:lnTo>
                  <a:pt x="319667" y="1556351"/>
                </a:lnTo>
                <a:lnTo>
                  <a:pt x="288777" y="1487289"/>
                </a:lnTo>
                <a:lnTo>
                  <a:pt x="277193" y="1442304"/>
                </a:lnTo>
                <a:lnTo>
                  <a:pt x="270570" y="1396315"/>
                </a:lnTo>
                <a:lnTo>
                  <a:pt x="267273" y="1346747"/>
                </a:lnTo>
                <a:lnTo>
                  <a:pt x="267305" y="1293600"/>
                </a:lnTo>
                <a:lnTo>
                  <a:pt x="270663" y="1236875"/>
                </a:lnTo>
                <a:lnTo>
                  <a:pt x="275847" y="1189420"/>
                </a:lnTo>
                <a:lnTo>
                  <a:pt x="282959" y="1141082"/>
                </a:lnTo>
                <a:lnTo>
                  <a:pt x="292000" y="1091859"/>
                </a:lnTo>
                <a:lnTo>
                  <a:pt x="302970" y="1041752"/>
                </a:lnTo>
                <a:lnTo>
                  <a:pt x="315868" y="990762"/>
                </a:lnTo>
                <a:lnTo>
                  <a:pt x="330836" y="939409"/>
                </a:lnTo>
                <a:lnTo>
                  <a:pt x="347612" y="888218"/>
                </a:lnTo>
                <a:lnTo>
                  <a:pt x="366196" y="837187"/>
                </a:lnTo>
                <a:lnTo>
                  <a:pt x="386588" y="786317"/>
                </a:lnTo>
                <a:lnTo>
                  <a:pt x="408788" y="735608"/>
                </a:lnTo>
                <a:lnTo>
                  <a:pt x="432696" y="685602"/>
                </a:lnTo>
                <a:lnTo>
                  <a:pt x="458212" y="636841"/>
                </a:lnTo>
                <a:lnTo>
                  <a:pt x="485335" y="589326"/>
                </a:lnTo>
                <a:lnTo>
                  <a:pt x="514064" y="543057"/>
                </a:lnTo>
                <a:lnTo>
                  <a:pt x="544401" y="498033"/>
                </a:lnTo>
                <a:lnTo>
                  <a:pt x="576386" y="454858"/>
                </a:lnTo>
                <a:lnTo>
                  <a:pt x="609657" y="414134"/>
                </a:lnTo>
                <a:lnTo>
                  <a:pt x="644213" y="375861"/>
                </a:lnTo>
                <a:lnTo>
                  <a:pt x="680055" y="340039"/>
                </a:lnTo>
                <a:lnTo>
                  <a:pt x="717183" y="306668"/>
                </a:lnTo>
                <a:lnTo>
                  <a:pt x="745812" y="297627"/>
                </a:lnTo>
                <a:lnTo>
                  <a:pt x="753723" y="298820"/>
                </a:lnTo>
                <a:lnTo>
                  <a:pt x="781788" y="331781"/>
                </a:lnTo>
                <a:lnTo>
                  <a:pt x="734923" y="397137"/>
                </a:lnTo>
                <a:lnTo>
                  <a:pt x="702055" y="430166"/>
                </a:lnTo>
                <a:lnTo>
                  <a:pt x="670311" y="465526"/>
                </a:lnTo>
                <a:lnTo>
                  <a:pt x="639693" y="503217"/>
                </a:lnTo>
                <a:lnTo>
                  <a:pt x="610199" y="543238"/>
                </a:lnTo>
                <a:lnTo>
                  <a:pt x="582152" y="585087"/>
                </a:lnTo>
                <a:lnTo>
                  <a:pt x="555472" y="628262"/>
                </a:lnTo>
                <a:lnTo>
                  <a:pt x="530157" y="672763"/>
                </a:lnTo>
                <a:lnTo>
                  <a:pt x="506209" y="718591"/>
                </a:lnTo>
                <a:lnTo>
                  <a:pt x="483627" y="765744"/>
                </a:lnTo>
                <a:lnTo>
                  <a:pt x="462692" y="813420"/>
                </a:lnTo>
                <a:lnTo>
                  <a:pt x="443284" y="861216"/>
                </a:lnTo>
                <a:lnTo>
                  <a:pt x="425404" y="909133"/>
                </a:lnTo>
                <a:lnTo>
                  <a:pt x="409050" y="957170"/>
                </a:lnTo>
                <a:lnTo>
                  <a:pt x="394222" y="1005328"/>
                </a:lnTo>
                <a:lnTo>
                  <a:pt x="381324" y="1052963"/>
                </a:lnTo>
                <a:lnTo>
                  <a:pt x="370354" y="1099835"/>
                </a:lnTo>
                <a:lnTo>
                  <a:pt x="361313" y="1145944"/>
                </a:lnTo>
                <a:lnTo>
                  <a:pt x="354201" y="1191289"/>
                </a:lnTo>
                <a:lnTo>
                  <a:pt x="349018" y="1235870"/>
                </a:lnTo>
                <a:lnTo>
                  <a:pt x="345628" y="1289111"/>
                </a:lnTo>
                <a:lnTo>
                  <a:pt x="345502" y="1338836"/>
                </a:lnTo>
                <a:lnTo>
                  <a:pt x="348641" y="1385045"/>
                </a:lnTo>
                <a:lnTo>
                  <a:pt x="355045" y="1427738"/>
                </a:lnTo>
                <a:lnTo>
                  <a:pt x="366095" y="1465660"/>
                </a:lnTo>
                <a:lnTo>
                  <a:pt x="382168" y="1505088"/>
                </a:lnTo>
                <a:lnTo>
                  <a:pt x="406277" y="1538238"/>
                </a:lnTo>
                <a:lnTo>
                  <a:pt x="441436" y="1557324"/>
                </a:lnTo>
                <a:lnTo>
                  <a:pt x="467680" y="1560715"/>
                </a:lnTo>
                <a:lnTo>
                  <a:pt x="485040" y="1560055"/>
                </a:lnTo>
                <a:lnTo>
                  <a:pt x="528423" y="1552396"/>
                </a:lnTo>
                <a:lnTo>
                  <a:pt x="584426" y="1528538"/>
                </a:lnTo>
                <a:lnTo>
                  <a:pt x="653866" y="1486190"/>
                </a:lnTo>
                <a:lnTo>
                  <a:pt x="694455" y="1455614"/>
                </a:lnTo>
                <a:lnTo>
                  <a:pt x="739000" y="1418383"/>
                </a:lnTo>
                <a:lnTo>
                  <a:pt x="787501" y="1374497"/>
                </a:lnTo>
                <a:lnTo>
                  <a:pt x="821377" y="1341082"/>
                </a:lnTo>
                <a:lnTo>
                  <a:pt x="854694" y="1305463"/>
                </a:lnTo>
                <a:lnTo>
                  <a:pt x="887453" y="1267639"/>
                </a:lnTo>
                <a:lnTo>
                  <a:pt x="919655" y="1227611"/>
                </a:lnTo>
                <a:lnTo>
                  <a:pt x="951298" y="1185378"/>
                </a:lnTo>
                <a:lnTo>
                  <a:pt x="982383" y="1140941"/>
                </a:lnTo>
                <a:lnTo>
                  <a:pt x="1008665" y="1101589"/>
                </a:lnTo>
                <a:lnTo>
                  <a:pt x="1034414" y="1061602"/>
                </a:lnTo>
                <a:lnTo>
                  <a:pt x="1059630" y="1020980"/>
                </a:lnTo>
                <a:lnTo>
                  <a:pt x="1084313" y="979722"/>
                </a:lnTo>
                <a:lnTo>
                  <a:pt x="1108463" y="937828"/>
                </a:lnTo>
                <a:lnTo>
                  <a:pt x="1132080" y="895299"/>
                </a:lnTo>
                <a:lnTo>
                  <a:pt x="1155164" y="852135"/>
                </a:lnTo>
                <a:lnTo>
                  <a:pt x="1177848" y="808652"/>
                </a:lnTo>
                <a:lnTo>
                  <a:pt x="1199979" y="765457"/>
                </a:lnTo>
                <a:lnTo>
                  <a:pt x="1221556" y="722549"/>
                </a:lnTo>
                <a:lnTo>
                  <a:pt x="1242580" y="679927"/>
                </a:lnTo>
                <a:lnTo>
                  <a:pt x="1263050" y="637593"/>
                </a:lnTo>
                <a:lnTo>
                  <a:pt x="1282966" y="595546"/>
                </a:lnTo>
                <a:lnTo>
                  <a:pt x="1302329" y="553785"/>
                </a:lnTo>
                <a:lnTo>
                  <a:pt x="1324262" y="505916"/>
                </a:lnTo>
                <a:lnTo>
                  <a:pt x="1345190" y="459749"/>
                </a:lnTo>
                <a:lnTo>
                  <a:pt x="1365114" y="415284"/>
                </a:lnTo>
                <a:lnTo>
                  <a:pt x="1384033" y="372521"/>
                </a:lnTo>
                <a:lnTo>
                  <a:pt x="1401947" y="331460"/>
                </a:lnTo>
                <a:lnTo>
                  <a:pt x="1418857" y="292102"/>
                </a:lnTo>
                <a:lnTo>
                  <a:pt x="1444284" y="234215"/>
                </a:lnTo>
                <a:lnTo>
                  <a:pt x="1466824" y="183611"/>
                </a:lnTo>
                <a:lnTo>
                  <a:pt x="1486475" y="140290"/>
                </a:lnTo>
                <a:lnTo>
                  <a:pt x="1503238" y="104252"/>
                </a:lnTo>
                <a:lnTo>
                  <a:pt x="1531617" y="50007"/>
                </a:lnTo>
                <a:lnTo>
                  <a:pt x="1555475" y="16857"/>
                </a:lnTo>
                <a:lnTo>
                  <a:pt x="1590979" y="0"/>
                </a:lnTo>
                <a:lnTo>
                  <a:pt x="1604195" y="2291"/>
                </a:lnTo>
                <a:lnTo>
                  <a:pt x="1636842" y="30921"/>
                </a:lnTo>
                <a:lnTo>
                  <a:pt x="1645318" y="83471"/>
                </a:lnTo>
                <a:lnTo>
                  <a:pt x="1644879" y="109275"/>
                </a:lnTo>
                <a:lnTo>
                  <a:pt x="1640861" y="176956"/>
                </a:lnTo>
                <a:lnTo>
                  <a:pt x="1637345" y="220120"/>
                </a:lnTo>
                <a:lnTo>
                  <a:pt x="1632824" y="269500"/>
                </a:lnTo>
                <a:lnTo>
                  <a:pt x="1627177" y="324599"/>
                </a:lnTo>
                <a:lnTo>
                  <a:pt x="1621328" y="379308"/>
                </a:lnTo>
                <a:lnTo>
                  <a:pt x="1615278" y="433629"/>
                </a:lnTo>
                <a:lnTo>
                  <a:pt x="1609027" y="487560"/>
                </a:lnTo>
                <a:lnTo>
                  <a:pt x="1602574" y="541101"/>
                </a:lnTo>
                <a:lnTo>
                  <a:pt x="1595920" y="594254"/>
                </a:lnTo>
                <a:lnTo>
                  <a:pt x="1589065" y="647017"/>
                </a:lnTo>
                <a:lnTo>
                  <a:pt x="1582009" y="699391"/>
                </a:lnTo>
                <a:lnTo>
                  <a:pt x="1574751" y="751376"/>
                </a:lnTo>
                <a:lnTo>
                  <a:pt x="1567292" y="802971"/>
                </a:lnTo>
                <a:lnTo>
                  <a:pt x="1559631" y="854177"/>
                </a:lnTo>
                <a:lnTo>
                  <a:pt x="1551770" y="904994"/>
                </a:lnTo>
                <a:lnTo>
                  <a:pt x="1543707" y="955421"/>
                </a:lnTo>
                <a:lnTo>
                  <a:pt x="1535443" y="1005460"/>
                </a:lnTo>
                <a:lnTo>
                  <a:pt x="1526977" y="1055108"/>
                </a:lnTo>
                <a:lnTo>
                  <a:pt x="1518310" y="1104368"/>
                </a:lnTo>
                <a:lnTo>
                  <a:pt x="1509442" y="1153239"/>
                </a:lnTo>
                <a:lnTo>
                  <a:pt x="1500373" y="1201720"/>
                </a:lnTo>
                <a:lnTo>
                  <a:pt x="1491102" y="1249811"/>
                </a:lnTo>
                <a:lnTo>
                  <a:pt x="1481630" y="1297514"/>
                </a:lnTo>
                <a:lnTo>
                  <a:pt x="1471957" y="1344827"/>
                </a:lnTo>
                <a:lnTo>
                  <a:pt x="1462082" y="1391751"/>
                </a:lnTo>
                <a:lnTo>
                  <a:pt x="1452006" y="1438286"/>
                </a:lnTo>
                <a:lnTo>
                  <a:pt x="1497650" y="1415746"/>
                </a:lnTo>
                <a:lnTo>
                  <a:pt x="1544173" y="1393332"/>
                </a:lnTo>
                <a:lnTo>
                  <a:pt x="1591575" y="1371044"/>
                </a:lnTo>
                <a:lnTo>
                  <a:pt x="1639856" y="1348881"/>
                </a:lnTo>
                <a:lnTo>
                  <a:pt x="1689141" y="1326970"/>
                </a:lnTo>
                <a:lnTo>
                  <a:pt x="1739055" y="1305435"/>
                </a:lnTo>
                <a:lnTo>
                  <a:pt x="1789596" y="1284277"/>
                </a:lnTo>
                <a:lnTo>
                  <a:pt x="1840765" y="1263495"/>
                </a:lnTo>
                <a:lnTo>
                  <a:pt x="1855205" y="1260230"/>
                </a:lnTo>
                <a:lnTo>
                  <a:pt x="1862708" y="1261047"/>
                </a:lnTo>
                <a:lnTo>
                  <a:pt x="1870399" y="1263495"/>
                </a:lnTo>
                <a:lnTo>
                  <a:pt x="1877588" y="1267043"/>
                </a:lnTo>
                <a:lnTo>
                  <a:pt x="1883584" y="1271657"/>
                </a:lnTo>
                <a:lnTo>
                  <a:pt x="1888387" y="1277339"/>
                </a:lnTo>
                <a:lnTo>
                  <a:pt x="1891996" y="1284088"/>
                </a:lnTo>
                <a:close/>
              </a:path>
              <a:path w="3343910" h="3355975">
                <a:moveTo>
                  <a:pt x="976355" y="2609081"/>
                </a:moveTo>
                <a:lnTo>
                  <a:pt x="996397" y="2569223"/>
                </a:lnTo>
                <a:lnTo>
                  <a:pt x="1016150" y="2528481"/>
                </a:lnTo>
                <a:lnTo>
                  <a:pt x="1035613" y="2486855"/>
                </a:lnTo>
                <a:lnTo>
                  <a:pt x="1054787" y="2444345"/>
                </a:lnTo>
                <a:lnTo>
                  <a:pt x="1073672" y="2400951"/>
                </a:lnTo>
                <a:lnTo>
                  <a:pt x="1092267" y="2356674"/>
                </a:lnTo>
                <a:lnTo>
                  <a:pt x="1110573" y="2311513"/>
                </a:lnTo>
                <a:lnTo>
                  <a:pt x="1128590" y="2265468"/>
                </a:lnTo>
                <a:lnTo>
                  <a:pt x="1146318" y="2218539"/>
                </a:lnTo>
                <a:lnTo>
                  <a:pt x="1163756" y="2170727"/>
                </a:lnTo>
                <a:lnTo>
                  <a:pt x="1180905" y="2122030"/>
                </a:lnTo>
                <a:lnTo>
                  <a:pt x="1197765" y="2072450"/>
                </a:lnTo>
                <a:lnTo>
                  <a:pt x="1214335" y="2021986"/>
                </a:lnTo>
                <a:lnTo>
                  <a:pt x="1230616" y="1970638"/>
                </a:lnTo>
                <a:lnTo>
                  <a:pt x="1246608" y="1918406"/>
                </a:lnTo>
                <a:lnTo>
                  <a:pt x="1262311" y="1865291"/>
                </a:lnTo>
                <a:lnTo>
                  <a:pt x="1277724" y="1811291"/>
                </a:lnTo>
                <a:lnTo>
                  <a:pt x="1292848" y="1756408"/>
                </a:lnTo>
                <a:lnTo>
                  <a:pt x="1307682" y="1700641"/>
                </a:lnTo>
                <a:lnTo>
                  <a:pt x="1322228" y="1643991"/>
                </a:lnTo>
                <a:lnTo>
                  <a:pt x="1336484" y="1586456"/>
                </a:lnTo>
                <a:lnTo>
                  <a:pt x="1284606" y="1614896"/>
                </a:lnTo>
                <a:lnTo>
                  <a:pt x="1234164" y="1643243"/>
                </a:lnTo>
                <a:lnTo>
                  <a:pt x="1185157" y="1671499"/>
                </a:lnTo>
                <a:lnTo>
                  <a:pt x="1137584" y="1699662"/>
                </a:lnTo>
                <a:lnTo>
                  <a:pt x="1091447" y="1727733"/>
                </a:lnTo>
                <a:lnTo>
                  <a:pt x="1046745" y="1755711"/>
                </a:lnTo>
                <a:lnTo>
                  <a:pt x="1003478" y="1783597"/>
                </a:lnTo>
                <a:lnTo>
                  <a:pt x="961646" y="1811392"/>
                </a:lnTo>
                <a:lnTo>
                  <a:pt x="921249" y="1839093"/>
                </a:lnTo>
                <a:lnTo>
                  <a:pt x="882287" y="1866703"/>
                </a:lnTo>
                <a:lnTo>
                  <a:pt x="844760" y="1894220"/>
                </a:lnTo>
                <a:lnTo>
                  <a:pt x="808668" y="1921645"/>
                </a:lnTo>
                <a:lnTo>
                  <a:pt x="774012" y="1948978"/>
                </a:lnTo>
                <a:lnTo>
                  <a:pt x="740790" y="1976219"/>
                </a:lnTo>
                <a:lnTo>
                  <a:pt x="696419" y="2013869"/>
                </a:lnTo>
                <a:lnTo>
                  <a:pt x="654118" y="2050675"/>
                </a:lnTo>
                <a:lnTo>
                  <a:pt x="613886" y="2086638"/>
                </a:lnTo>
                <a:lnTo>
                  <a:pt x="575723" y="2121757"/>
                </a:lnTo>
                <a:lnTo>
                  <a:pt x="539630" y="2156032"/>
                </a:lnTo>
                <a:lnTo>
                  <a:pt x="505606" y="2189463"/>
                </a:lnTo>
                <a:lnTo>
                  <a:pt x="473652" y="2222050"/>
                </a:lnTo>
                <a:lnTo>
                  <a:pt x="443767" y="2253794"/>
                </a:lnTo>
                <a:lnTo>
                  <a:pt x="415951" y="2284694"/>
                </a:lnTo>
                <a:lnTo>
                  <a:pt x="390205" y="2314750"/>
                </a:lnTo>
                <a:lnTo>
                  <a:pt x="355809" y="2356704"/>
                </a:lnTo>
                <a:lnTo>
                  <a:pt x="323342" y="2398589"/>
                </a:lnTo>
                <a:lnTo>
                  <a:pt x="292804" y="2440403"/>
                </a:lnTo>
                <a:lnTo>
                  <a:pt x="264194" y="2482147"/>
                </a:lnTo>
                <a:lnTo>
                  <a:pt x="237514" y="2523820"/>
                </a:lnTo>
                <a:lnTo>
                  <a:pt x="212762" y="2565423"/>
                </a:lnTo>
                <a:lnTo>
                  <a:pt x="189939" y="2606956"/>
                </a:lnTo>
                <a:lnTo>
                  <a:pt x="169044" y="2648419"/>
                </a:lnTo>
                <a:lnTo>
                  <a:pt x="150078" y="2689811"/>
                </a:lnTo>
                <a:lnTo>
                  <a:pt x="133041" y="2731133"/>
                </a:lnTo>
                <a:lnTo>
                  <a:pt x="112479" y="2789222"/>
                </a:lnTo>
                <a:lnTo>
                  <a:pt x="96714" y="2845241"/>
                </a:lnTo>
                <a:lnTo>
                  <a:pt x="85746" y="2899189"/>
                </a:lnTo>
                <a:lnTo>
                  <a:pt x="79575" y="2951066"/>
                </a:lnTo>
                <a:lnTo>
                  <a:pt x="78202" y="3000873"/>
                </a:lnTo>
                <a:lnTo>
                  <a:pt x="81625" y="3048610"/>
                </a:lnTo>
                <a:lnTo>
                  <a:pt x="89846" y="3094275"/>
                </a:lnTo>
                <a:lnTo>
                  <a:pt x="102434" y="3136843"/>
                </a:lnTo>
                <a:lnTo>
                  <a:pt x="119605" y="3174136"/>
                </a:lnTo>
                <a:lnTo>
                  <a:pt x="141360" y="3206156"/>
                </a:lnTo>
                <a:lnTo>
                  <a:pt x="198242" y="3253841"/>
                </a:lnTo>
                <a:lnTo>
                  <a:pt x="269314" y="3275187"/>
                </a:lnTo>
                <a:lnTo>
                  <a:pt x="309841" y="3275596"/>
                </a:lnTo>
                <a:lnTo>
                  <a:pt x="352916" y="3269950"/>
                </a:lnTo>
                <a:lnTo>
                  <a:pt x="396553" y="3258237"/>
                </a:lnTo>
                <a:lnTo>
                  <a:pt x="440753" y="3240456"/>
                </a:lnTo>
                <a:lnTo>
                  <a:pt x="485515" y="3216609"/>
                </a:lnTo>
                <a:lnTo>
                  <a:pt x="530840" y="3186693"/>
                </a:lnTo>
                <a:lnTo>
                  <a:pt x="568999" y="3157618"/>
                </a:lnTo>
                <a:lnTo>
                  <a:pt x="607130" y="3124970"/>
                </a:lnTo>
                <a:lnTo>
                  <a:pt x="645233" y="3088750"/>
                </a:lnTo>
                <a:lnTo>
                  <a:pt x="683308" y="3048959"/>
                </a:lnTo>
                <a:lnTo>
                  <a:pt x="721355" y="3005597"/>
                </a:lnTo>
                <a:lnTo>
                  <a:pt x="759374" y="2958662"/>
                </a:lnTo>
                <a:lnTo>
                  <a:pt x="787815" y="2921227"/>
                </a:lnTo>
                <a:lnTo>
                  <a:pt x="815879" y="2882003"/>
                </a:lnTo>
                <a:lnTo>
                  <a:pt x="843567" y="2840989"/>
                </a:lnTo>
                <a:lnTo>
                  <a:pt x="870878" y="2798186"/>
                </a:lnTo>
                <a:lnTo>
                  <a:pt x="897812" y="2753594"/>
                </a:lnTo>
                <a:lnTo>
                  <a:pt x="924370" y="2707212"/>
                </a:lnTo>
                <a:lnTo>
                  <a:pt x="950551" y="2659041"/>
                </a:lnTo>
                <a:lnTo>
                  <a:pt x="976355" y="2609081"/>
                </a:lnTo>
                <a:close/>
              </a:path>
              <a:path w="3343910" h="3355975">
                <a:moveTo>
                  <a:pt x="2591614" y="1442304"/>
                </a:moveTo>
                <a:lnTo>
                  <a:pt x="2608126" y="1477243"/>
                </a:lnTo>
                <a:lnTo>
                  <a:pt x="2606933" y="1484620"/>
                </a:lnTo>
                <a:lnTo>
                  <a:pt x="2571900" y="1531080"/>
                </a:lnTo>
                <a:lnTo>
                  <a:pt x="2541889" y="1562347"/>
                </a:lnTo>
                <a:lnTo>
                  <a:pt x="2509618" y="1591855"/>
                </a:lnTo>
                <a:lnTo>
                  <a:pt x="2475087" y="1619606"/>
                </a:lnTo>
                <a:lnTo>
                  <a:pt x="2439269" y="1644500"/>
                </a:lnTo>
                <a:lnTo>
                  <a:pt x="2402634" y="1665940"/>
                </a:lnTo>
                <a:lnTo>
                  <a:pt x="2365184" y="1683928"/>
                </a:lnTo>
                <a:lnTo>
                  <a:pt x="2326917" y="1698462"/>
                </a:lnTo>
                <a:lnTo>
                  <a:pt x="2288776" y="1708633"/>
                </a:lnTo>
                <a:lnTo>
                  <a:pt x="2251199" y="1713531"/>
                </a:lnTo>
                <a:lnTo>
                  <a:pt x="2214188" y="1713154"/>
                </a:lnTo>
                <a:lnTo>
                  <a:pt x="2177742" y="1707503"/>
                </a:lnTo>
                <a:lnTo>
                  <a:pt x="2161921" y="1741595"/>
                </a:lnTo>
                <a:lnTo>
                  <a:pt x="2121236" y="1797347"/>
                </a:lnTo>
                <a:lnTo>
                  <a:pt x="2070193" y="1835928"/>
                </a:lnTo>
                <a:lnTo>
                  <a:pt x="2017455" y="1855265"/>
                </a:lnTo>
                <a:lnTo>
                  <a:pt x="1990897" y="1857683"/>
                </a:lnTo>
                <a:lnTo>
                  <a:pt x="1990563" y="1857683"/>
                </a:lnTo>
                <a:lnTo>
                  <a:pt x="1989893" y="1857683"/>
                </a:lnTo>
                <a:lnTo>
                  <a:pt x="1989223" y="1857683"/>
                </a:lnTo>
                <a:lnTo>
                  <a:pt x="1988888" y="1857683"/>
                </a:lnTo>
                <a:lnTo>
                  <a:pt x="1961860" y="1854575"/>
                </a:lnTo>
                <a:lnTo>
                  <a:pt x="1936526" y="1847260"/>
                </a:lnTo>
                <a:lnTo>
                  <a:pt x="1890945" y="1820012"/>
                </a:lnTo>
                <a:lnTo>
                  <a:pt x="1855158" y="1776942"/>
                </a:lnTo>
                <a:lnTo>
                  <a:pt x="1832179" y="1720060"/>
                </a:lnTo>
                <a:lnTo>
                  <a:pt x="1821381" y="1649993"/>
                </a:lnTo>
                <a:lnTo>
                  <a:pt x="1821820" y="1616278"/>
                </a:lnTo>
                <a:lnTo>
                  <a:pt x="1833686" y="1552019"/>
                </a:lnTo>
                <a:lnTo>
                  <a:pt x="1856288" y="1495011"/>
                </a:lnTo>
                <a:lnTo>
                  <a:pt x="1888434" y="1446008"/>
                </a:lnTo>
                <a:lnTo>
                  <a:pt x="1925602" y="1407836"/>
                </a:lnTo>
                <a:lnTo>
                  <a:pt x="1960886" y="1386803"/>
                </a:lnTo>
                <a:lnTo>
                  <a:pt x="1969331" y="1386866"/>
                </a:lnTo>
                <a:lnTo>
                  <a:pt x="1978341" y="1389063"/>
                </a:lnTo>
                <a:lnTo>
                  <a:pt x="1988574" y="1367528"/>
                </a:lnTo>
                <a:lnTo>
                  <a:pt x="2014692" y="1332369"/>
                </a:lnTo>
                <a:lnTo>
                  <a:pt x="2047842" y="1308354"/>
                </a:lnTo>
                <a:lnTo>
                  <a:pt x="2083504" y="1299062"/>
                </a:lnTo>
                <a:lnTo>
                  <a:pt x="2101899" y="1300161"/>
                </a:lnTo>
                <a:lnTo>
                  <a:pt x="2138063" y="1317678"/>
                </a:lnTo>
                <a:lnTo>
                  <a:pt x="2175231" y="1361187"/>
                </a:lnTo>
                <a:lnTo>
                  <a:pt x="2194317" y="1412670"/>
                </a:lnTo>
                <a:lnTo>
                  <a:pt x="2205241" y="1487508"/>
                </a:lnTo>
                <a:lnTo>
                  <a:pt x="2206466" y="1535475"/>
                </a:lnTo>
                <a:lnTo>
                  <a:pt x="2204865" y="1590474"/>
                </a:lnTo>
                <a:lnTo>
                  <a:pt x="2203703" y="1600771"/>
                </a:lnTo>
                <a:lnTo>
                  <a:pt x="2202228" y="1611067"/>
                </a:lnTo>
                <a:lnTo>
                  <a:pt x="2200439" y="1621364"/>
                </a:lnTo>
                <a:lnTo>
                  <a:pt x="2198335" y="1631660"/>
                </a:lnTo>
                <a:lnTo>
                  <a:pt x="2226588" y="1634642"/>
                </a:lnTo>
                <a:lnTo>
                  <a:pt x="2285354" y="1628364"/>
                </a:lnTo>
                <a:lnTo>
                  <a:pt x="2346474" y="1606327"/>
                </a:lnTo>
                <a:lnTo>
                  <a:pt x="2405993" y="1571921"/>
                </a:lnTo>
                <a:lnTo>
                  <a:pt x="2462875" y="1526591"/>
                </a:lnTo>
                <a:lnTo>
                  <a:pt x="2513354" y="1475611"/>
                </a:lnTo>
                <a:lnTo>
                  <a:pt x="2535862" y="1448331"/>
                </a:lnTo>
                <a:lnTo>
                  <a:pt x="2541481" y="1442932"/>
                </a:lnTo>
                <a:lnTo>
                  <a:pt x="2547791" y="1438788"/>
                </a:lnTo>
                <a:lnTo>
                  <a:pt x="2554791" y="1435900"/>
                </a:lnTo>
                <a:lnTo>
                  <a:pt x="2562482" y="1434268"/>
                </a:lnTo>
                <a:lnTo>
                  <a:pt x="2570519" y="1434016"/>
                </a:lnTo>
                <a:lnTo>
                  <a:pt x="2578053" y="1435272"/>
                </a:lnTo>
                <a:lnTo>
                  <a:pt x="2585085" y="1438035"/>
                </a:lnTo>
                <a:lnTo>
                  <a:pt x="2591614" y="1442304"/>
                </a:lnTo>
                <a:close/>
              </a:path>
              <a:path w="3343910" h="3355975">
                <a:moveTo>
                  <a:pt x="1990897" y="1777821"/>
                </a:moveTo>
                <a:lnTo>
                  <a:pt x="2034218" y="1763978"/>
                </a:lnTo>
                <a:lnTo>
                  <a:pt x="2065955" y="1739146"/>
                </a:lnTo>
                <a:lnTo>
                  <a:pt x="2092827" y="1701978"/>
                </a:lnTo>
                <a:lnTo>
                  <a:pt x="2103908" y="1678874"/>
                </a:lnTo>
                <a:lnTo>
                  <a:pt x="2069597" y="1657527"/>
                </a:lnTo>
                <a:lnTo>
                  <a:pt x="2040496" y="1634674"/>
                </a:lnTo>
                <a:lnTo>
                  <a:pt x="1997929" y="1584447"/>
                </a:lnTo>
                <a:lnTo>
                  <a:pt x="1973568" y="1530829"/>
                </a:lnTo>
                <a:lnTo>
                  <a:pt x="1963775" y="1477463"/>
                </a:lnTo>
                <a:lnTo>
                  <a:pt x="1944029" y="1499469"/>
                </a:lnTo>
                <a:lnTo>
                  <a:pt x="1915650" y="1551956"/>
                </a:lnTo>
                <a:lnTo>
                  <a:pt x="1902215" y="1613547"/>
                </a:lnTo>
                <a:lnTo>
                  <a:pt x="1900865" y="1643087"/>
                </a:lnTo>
                <a:lnTo>
                  <a:pt x="1902968" y="1671057"/>
                </a:lnTo>
                <a:lnTo>
                  <a:pt x="1912323" y="1709167"/>
                </a:lnTo>
                <a:lnTo>
                  <a:pt x="1933136" y="1749192"/>
                </a:lnTo>
                <a:lnTo>
                  <a:pt x="1972596" y="1776032"/>
                </a:lnTo>
                <a:lnTo>
                  <a:pt x="1990897" y="1777821"/>
                </a:lnTo>
                <a:close/>
              </a:path>
              <a:path w="3343910" h="3355975">
                <a:moveTo>
                  <a:pt x="2124501" y="1586456"/>
                </a:moveTo>
                <a:lnTo>
                  <a:pt x="2125789" y="1547593"/>
                </a:lnTo>
                <a:lnTo>
                  <a:pt x="2125632" y="1513375"/>
                </a:lnTo>
                <a:lnTo>
                  <a:pt x="2124030" y="1483804"/>
                </a:lnTo>
                <a:lnTo>
                  <a:pt x="2117281" y="1438066"/>
                </a:lnTo>
                <a:lnTo>
                  <a:pt x="2103908" y="1397099"/>
                </a:lnTo>
                <a:lnTo>
                  <a:pt x="2089342" y="1378515"/>
                </a:lnTo>
                <a:lnTo>
                  <a:pt x="2088003" y="1378515"/>
                </a:lnTo>
                <a:lnTo>
                  <a:pt x="2087333" y="1378515"/>
                </a:lnTo>
                <a:lnTo>
                  <a:pt x="2083315" y="1378515"/>
                </a:lnTo>
                <a:lnTo>
                  <a:pt x="2077120" y="1382701"/>
                </a:lnTo>
                <a:lnTo>
                  <a:pt x="2052645" y="1416217"/>
                </a:lnTo>
                <a:lnTo>
                  <a:pt x="2042631" y="1468799"/>
                </a:lnTo>
                <a:lnTo>
                  <a:pt x="2044766" y="1490742"/>
                </a:lnTo>
                <a:lnTo>
                  <a:pt x="2060273" y="1536260"/>
                </a:lnTo>
                <a:lnTo>
                  <a:pt x="2097441" y="1578702"/>
                </a:lnTo>
                <a:lnTo>
                  <a:pt x="2124501" y="1598510"/>
                </a:lnTo>
                <a:lnTo>
                  <a:pt x="2124501" y="1594492"/>
                </a:lnTo>
                <a:lnTo>
                  <a:pt x="2124501" y="1590474"/>
                </a:lnTo>
                <a:lnTo>
                  <a:pt x="2124501" y="1586456"/>
                </a:lnTo>
                <a:close/>
              </a:path>
              <a:path w="3343910" h="3355975">
                <a:moveTo>
                  <a:pt x="3325777" y="1446322"/>
                </a:moveTo>
                <a:lnTo>
                  <a:pt x="3343608" y="1479252"/>
                </a:lnTo>
                <a:lnTo>
                  <a:pt x="3343357" y="1486629"/>
                </a:lnTo>
                <a:lnTo>
                  <a:pt x="3316862" y="1533968"/>
                </a:lnTo>
                <a:lnTo>
                  <a:pt x="3285596" y="1582438"/>
                </a:lnTo>
                <a:lnTo>
                  <a:pt x="3246167" y="1640576"/>
                </a:lnTo>
                <a:lnTo>
                  <a:pt x="3223628" y="1671811"/>
                </a:lnTo>
                <a:lnTo>
                  <a:pt x="3199205" y="1704490"/>
                </a:lnTo>
                <a:lnTo>
                  <a:pt x="3173683" y="1737640"/>
                </a:lnTo>
                <a:lnTo>
                  <a:pt x="3147345" y="1770287"/>
                </a:lnTo>
                <a:lnTo>
                  <a:pt x="3120191" y="1802433"/>
                </a:lnTo>
                <a:lnTo>
                  <a:pt x="3092221" y="1834076"/>
                </a:lnTo>
                <a:lnTo>
                  <a:pt x="3064125" y="1864118"/>
                </a:lnTo>
                <a:lnTo>
                  <a:pt x="3036092" y="1891460"/>
                </a:lnTo>
                <a:lnTo>
                  <a:pt x="2980214" y="1938046"/>
                </a:lnTo>
                <a:lnTo>
                  <a:pt x="2926848" y="1968936"/>
                </a:lnTo>
                <a:lnTo>
                  <a:pt x="2877248" y="1979232"/>
                </a:lnTo>
                <a:lnTo>
                  <a:pt x="2869432" y="1978856"/>
                </a:lnTo>
                <a:lnTo>
                  <a:pt x="2825358" y="1960334"/>
                </a:lnTo>
                <a:lnTo>
                  <a:pt x="2792961" y="1913121"/>
                </a:lnTo>
                <a:lnTo>
                  <a:pt x="2779306" y="1836367"/>
                </a:lnTo>
                <a:lnTo>
                  <a:pt x="2779306" y="1785481"/>
                </a:lnTo>
                <a:lnTo>
                  <a:pt x="2783826" y="1726119"/>
                </a:lnTo>
                <a:lnTo>
                  <a:pt x="2792867" y="1658281"/>
                </a:lnTo>
                <a:lnTo>
                  <a:pt x="2779274" y="1675986"/>
                </a:lnTo>
                <a:lnTo>
                  <a:pt x="2750394" y="1712149"/>
                </a:lnTo>
                <a:lnTo>
                  <a:pt x="2719535" y="1748595"/>
                </a:lnTo>
                <a:lnTo>
                  <a:pt x="2686888" y="1782499"/>
                </a:lnTo>
                <a:lnTo>
                  <a:pt x="2643975" y="1817689"/>
                </a:lnTo>
                <a:lnTo>
                  <a:pt x="2598519" y="1836273"/>
                </a:lnTo>
                <a:lnTo>
                  <a:pt x="2578899" y="1835583"/>
                </a:lnTo>
                <a:lnTo>
                  <a:pt x="2537462" y="1820514"/>
                </a:lnTo>
                <a:lnTo>
                  <a:pt x="2499540" y="1775812"/>
                </a:lnTo>
                <a:lnTo>
                  <a:pt x="2483468" y="1721065"/>
                </a:lnTo>
                <a:lnTo>
                  <a:pt x="2480485" y="1688794"/>
                </a:lnTo>
                <a:lnTo>
                  <a:pt x="2480580" y="1654765"/>
                </a:lnTo>
                <a:lnTo>
                  <a:pt x="2489997" y="1581433"/>
                </a:lnTo>
                <a:lnTo>
                  <a:pt x="2499164" y="1543104"/>
                </a:lnTo>
                <a:lnTo>
                  <a:pt x="2511595" y="1505465"/>
                </a:lnTo>
                <a:lnTo>
                  <a:pt x="2527291" y="1468516"/>
                </a:lnTo>
                <a:lnTo>
                  <a:pt x="2546252" y="1432258"/>
                </a:lnTo>
                <a:lnTo>
                  <a:pt x="2579025" y="1412419"/>
                </a:lnTo>
                <a:lnTo>
                  <a:pt x="2586936" y="1412670"/>
                </a:lnTo>
                <a:lnTo>
                  <a:pt x="2620086" y="1441299"/>
                </a:lnTo>
                <a:lnTo>
                  <a:pt x="2599021" y="1501760"/>
                </a:lnTo>
                <a:lnTo>
                  <a:pt x="2585052" y="1532462"/>
                </a:lnTo>
                <a:lnTo>
                  <a:pt x="2566342" y="1593488"/>
                </a:lnTo>
                <a:lnTo>
                  <a:pt x="2558557" y="1649868"/>
                </a:lnTo>
                <a:lnTo>
                  <a:pt x="2557867" y="1674762"/>
                </a:lnTo>
                <a:lnTo>
                  <a:pt x="2559311" y="1697458"/>
                </a:lnTo>
                <a:lnTo>
                  <a:pt x="2572401" y="1745017"/>
                </a:lnTo>
                <a:lnTo>
                  <a:pt x="2584591" y="1757228"/>
                </a:lnTo>
                <a:lnTo>
                  <a:pt x="2591791" y="1756224"/>
                </a:lnTo>
                <a:lnTo>
                  <a:pt x="2600497" y="1750196"/>
                </a:lnTo>
                <a:lnTo>
                  <a:pt x="2609537" y="1743834"/>
                </a:lnTo>
                <a:lnTo>
                  <a:pt x="2615398" y="1739984"/>
                </a:lnTo>
                <a:lnTo>
                  <a:pt x="2656124" y="1700974"/>
                </a:lnTo>
                <a:lnTo>
                  <a:pt x="2691910" y="1658281"/>
                </a:lnTo>
                <a:lnTo>
                  <a:pt x="2724558" y="1615085"/>
                </a:lnTo>
                <a:lnTo>
                  <a:pt x="2752183" y="1575908"/>
                </a:lnTo>
                <a:lnTo>
                  <a:pt x="2767816" y="1554781"/>
                </a:lnTo>
                <a:lnTo>
                  <a:pt x="2794939" y="1521380"/>
                </a:lnTo>
                <a:lnTo>
                  <a:pt x="2829784" y="1496047"/>
                </a:lnTo>
                <a:lnTo>
                  <a:pt x="2842780" y="1495921"/>
                </a:lnTo>
                <a:lnTo>
                  <a:pt x="2856655" y="1500065"/>
                </a:lnTo>
                <a:lnTo>
                  <a:pt x="2869401" y="1506657"/>
                </a:lnTo>
                <a:lnTo>
                  <a:pt x="2878504" y="1516389"/>
                </a:lnTo>
                <a:lnTo>
                  <a:pt x="2883967" y="1529260"/>
                </a:lnTo>
                <a:lnTo>
                  <a:pt x="2885787" y="1545270"/>
                </a:lnTo>
                <a:lnTo>
                  <a:pt x="2885128" y="1564356"/>
                </a:lnTo>
                <a:lnTo>
                  <a:pt x="2883150" y="1586456"/>
                </a:lnTo>
                <a:lnTo>
                  <a:pt x="2879854" y="1611569"/>
                </a:lnTo>
                <a:lnTo>
                  <a:pt x="2875240" y="1639697"/>
                </a:lnTo>
                <a:lnTo>
                  <a:pt x="2866356" y="1695417"/>
                </a:lnTo>
                <a:lnTo>
                  <a:pt x="2860297" y="1743039"/>
                </a:lnTo>
                <a:lnTo>
                  <a:pt x="2857064" y="1782562"/>
                </a:lnTo>
                <a:lnTo>
                  <a:pt x="2856655" y="1813985"/>
                </a:lnTo>
                <a:lnTo>
                  <a:pt x="2858256" y="1838690"/>
                </a:lnTo>
                <a:lnTo>
                  <a:pt x="2867203" y="1883801"/>
                </a:lnTo>
                <a:lnTo>
                  <a:pt x="2875910" y="1898869"/>
                </a:lnTo>
                <a:lnTo>
                  <a:pt x="2877248" y="1898869"/>
                </a:lnTo>
                <a:lnTo>
                  <a:pt x="2923834" y="1879782"/>
                </a:lnTo>
                <a:lnTo>
                  <a:pt x="2963231" y="1848014"/>
                </a:lnTo>
                <a:lnTo>
                  <a:pt x="3013365" y="1801428"/>
                </a:lnTo>
                <a:lnTo>
                  <a:pt x="3041664" y="1772453"/>
                </a:lnTo>
                <a:lnTo>
                  <a:pt x="3071063" y="1739523"/>
                </a:lnTo>
                <a:lnTo>
                  <a:pt x="3101560" y="1702638"/>
                </a:lnTo>
                <a:lnTo>
                  <a:pt x="3133156" y="1661797"/>
                </a:lnTo>
                <a:lnTo>
                  <a:pt x="3165851" y="1617000"/>
                </a:lnTo>
                <a:lnTo>
                  <a:pt x="3199644" y="1568249"/>
                </a:lnTo>
                <a:lnTo>
                  <a:pt x="3234536" y="1515541"/>
                </a:lnTo>
                <a:lnTo>
                  <a:pt x="3270527" y="1458879"/>
                </a:lnTo>
                <a:lnTo>
                  <a:pt x="3275079" y="1452318"/>
                </a:lnTo>
                <a:lnTo>
                  <a:pt x="3280698" y="1447201"/>
                </a:lnTo>
                <a:lnTo>
                  <a:pt x="3287385" y="1443528"/>
                </a:lnTo>
                <a:lnTo>
                  <a:pt x="3295139" y="1441299"/>
                </a:lnTo>
                <a:lnTo>
                  <a:pt x="3303269" y="1440483"/>
                </a:lnTo>
                <a:lnTo>
                  <a:pt x="3311086" y="1441048"/>
                </a:lnTo>
                <a:lnTo>
                  <a:pt x="3318589" y="1442995"/>
                </a:lnTo>
                <a:lnTo>
                  <a:pt x="3325777" y="1446322"/>
                </a:lnTo>
                <a:close/>
              </a:path>
            </a:pathLst>
          </a:custGeom>
          <a:ln w="77149">
            <a:solidFill>
              <a:srgbClr val="316BA6"/>
            </a:solidFill>
            <a:prstDash val="solid"/>
          </a:ln>
        </p:spPr>
        <p:txBody>
          <a:bodyPr/>
          <a:lstStyle/>
          <a:p>
            <a:endParaRPr lang="ar-EG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328420" cy="13735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B833712-63E4-0CEB-09BE-B7E538A47C6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736" t="8322"/>
          <a:stretch>
            <a:fillRect/>
          </a:stretch>
        </p:blipFill>
        <p:spPr>
          <a:xfrm>
            <a:off x="0" y="0"/>
            <a:ext cx="1371600" cy="137925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320</Words>
  <Application>Microsoft Office PowerPoint</Application>
  <PresentationFormat>Custom</PresentationFormat>
  <Paragraphs>62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Arial MT</vt:lpstr>
      <vt:lpstr>Tahoma</vt:lpstr>
      <vt:lpstr>Trebuchet MS</vt:lpstr>
      <vt:lpstr>Office Theme</vt:lpstr>
      <vt:lpstr>PowerPoint Presentation</vt:lpstr>
      <vt:lpstr>Team Members:</vt:lpstr>
      <vt:lpstr>Introduction</vt:lpstr>
      <vt:lpstr>Project Phases</vt:lpstr>
      <vt:lpstr>Data Analysis Questions</vt:lpstr>
      <vt:lpstr>Questions</vt:lpstr>
      <vt:lpstr>PowerPoint Presentation</vt:lpstr>
      <vt:lpstr>Data Cleaning</vt:lpstr>
      <vt:lpstr>Normalization&amp; Data Modeling</vt:lpstr>
      <vt:lpstr>PowerPoint Presentation</vt:lpstr>
      <vt:lpstr>Visualization Revenues</vt:lpstr>
      <vt:lpstr>Visualization Tickets</vt:lpstr>
      <vt:lpstr>Visualization On Time Trips</vt:lpstr>
      <vt:lpstr>Visualization Delayed Trips</vt:lpstr>
      <vt:lpstr>Visualization Cancelled Trips</vt:lpstr>
      <vt:lpstr>Conclusion&amp; Recommendations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Brown and Red Minimalist Modern Project Report Presentation</dc:title>
  <dc:creator>Marina Isaac</dc:creator>
  <cp:keywords>DAGkzIpPGpE,BAGXbslnL7I,0</cp:keywords>
  <cp:lastModifiedBy>Mohamed Ahmed Aboelela</cp:lastModifiedBy>
  <cp:revision>7</cp:revision>
  <dcterms:created xsi:type="dcterms:W3CDTF">2025-11-18T19:27:00Z</dcterms:created>
  <dcterms:modified xsi:type="dcterms:W3CDTF">2025-11-29T22:11:53Z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2025-11-18T04:00:00Z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2025-11-18T04:00:00Z</vt:filetime>
  </property>
  <property fmtid="{D5CDD505-2E9C-101B-9397-08002B2CF9AE}" pid="5" name="Producer">
    <vt:lpwstr>www.ilovepdf.com</vt:lpwstr>
  </property>
  <property fmtid="{D5CDD505-2E9C-101B-9397-08002B2CF9AE}" pid="6" name="ICV">
    <vt:lpwstr>714F05FA15B9423F93218D0944CF531F_12</vt:lpwstr>
  </property>
  <property fmtid="{D5CDD505-2E9C-101B-9397-08002B2CF9AE}" pid="7" name="KSOProductBuildVer">
    <vt:lpwstr>1033-12.2.0.23155</vt:lpwstr>
  </property>
</Properties>
</file>